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B53"/>
        </a:solidFill>
        <a:effectLst/>
      </p:bgPr>
    </p:bg>
    <p:spTree>
      <p:nvGrpSpPr>
        <p:cNvPr id="1" name=""/>
        <p:cNvGrpSpPr/>
        <p:nvPr/>
      </p:nvGrpSpPr>
      <p:grpSpPr/>
      <p:sp>
        <p:nvSpPr>
          <p:cNvPr id="2" name="Oval 1"/>
          <p:cNvSpPr/>
          <p:nvPr/>
        </p:nvSpPr>
        <p:spPr>
          <a:xfrm>
            <a:off x="8961120" y="731520"/>
            <a:ext cx="2286000" cy="2286000"/>
          </a:xfrm>
          <a:prstGeom prst="ellipse">
            <a:avLst/>
          </a:prstGeom>
          <a:solidFill>
            <a:srgbClr val="2A61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875520" y="4114800"/>
            <a:ext cx="1371600" cy="1371600"/>
          </a:xfrm>
          <a:prstGeom prst="ellipse">
            <a:avLst/>
          </a:prstGeom>
          <a:solidFill>
            <a:srgbClr val="30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5303520"/>
            <a:ext cx="1371600" cy="1371600"/>
          </a:xfrm>
          <a:prstGeom prst="ellipse">
            <a:avLst/>
          </a:prstGeom>
          <a:solidFill>
            <a:srgbClr val="704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777240"/>
            <a:ext cx="7863840" cy="365760"/>
          </a:xfrm>
          <a:prstGeom prst="rect">
            <a:avLst/>
          </a:prstGeom>
          <a:noFill/>
        </p:spPr>
        <p:txBody>
          <a:bodyPr wrap="square" lIns="54864" rIns="54864" tIns="54864" bIns="54864" anchor="t">
            <a:spAutoFit/>
          </a:bodyPr>
          <a:lstStyle/>
          <a:p>
            <a:pPr algn="l">
              <a:defRPr sz="1500" b="1">
                <a:solidFill>
                  <a:srgbClr val="F0B843"/>
                </a:solidFill>
                <a:latin typeface="Aptos"/>
              </a:defRPr>
            </a:pPr>
            <a:r>
              <a:t>PROJECT DOCUMENTATION</a:t>
            </a:r>
          </a:p>
        </p:txBody>
      </p:sp>
      <p:sp>
        <p:nvSpPr>
          <p:cNvPr id="6" name="TextBox 5"/>
          <p:cNvSpPr txBox="1"/>
          <p:nvPr/>
        </p:nvSpPr>
        <p:spPr>
          <a:xfrm>
            <a:off x="822960" y="1417320"/>
            <a:ext cx="9784080" cy="1508760"/>
          </a:xfrm>
          <a:prstGeom prst="rect">
            <a:avLst/>
          </a:prstGeom>
          <a:noFill/>
        </p:spPr>
        <p:txBody>
          <a:bodyPr wrap="square" lIns="54864" rIns="54864" tIns="54864" bIns="54864" anchor="t">
            <a:spAutoFit/>
          </a:bodyPr>
          <a:lstStyle/>
          <a:p>
            <a:pPr algn="l">
              <a:defRPr sz="3200" b="1">
                <a:solidFill>
                  <a:srgbClr val="FFFFFF"/>
                </a:solidFill>
                <a:latin typeface="Aptos"/>
              </a:defRPr>
            </a:pPr>
            <a:r>
              <a:t>STUDENT ENROLLMENT</a:t>
            </a:r>
          </a:p>
          <a:p>
            <a:pPr algn="l">
              <a:defRPr sz="3200" b="1">
                <a:solidFill>
                  <a:srgbClr val="FFFFFF"/>
                </a:solidFill>
                <a:latin typeface="Aptos"/>
              </a:defRPr>
            </a:pPr>
            <a:r>
              <a:t>AND COURSE MANAGEMENT SYSTEM</a:t>
            </a:r>
          </a:p>
        </p:txBody>
      </p:sp>
      <p:sp>
        <p:nvSpPr>
          <p:cNvPr id="7" name="TextBox 6"/>
          <p:cNvSpPr txBox="1"/>
          <p:nvPr/>
        </p:nvSpPr>
        <p:spPr>
          <a:xfrm>
            <a:off x="868680" y="3154680"/>
            <a:ext cx="8961120" cy="822960"/>
          </a:xfrm>
          <a:prstGeom prst="rect">
            <a:avLst/>
          </a:prstGeom>
          <a:noFill/>
        </p:spPr>
        <p:txBody>
          <a:bodyPr wrap="square" lIns="54864" rIns="54864" tIns="54864" bIns="54864" anchor="t">
            <a:spAutoFit/>
          </a:bodyPr>
          <a:lstStyle/>
          <a:p>
            <a:pPr algn="l">
              <a:defRPr sz="1900" b="0">
                <a:solidFill>
                  <a:srgbClr val="DCE6F5"/>
                </a:solidFill>
                <a:latin typeface="Aptos"/>
              </a:defRPr>
            </a:pPr>
            <a:r>
              <a:t>A web-based platform for course discovery, student enrollment,</a:t>
            </a:r>
          </a:p>
          <a:p>
            <a:pPr algn="l">
              <a:defRPr sz="1900" b="0">
                <a:solidFill>
                  <a:srgbClr val="DCE6F5"/>
                </a:solidFill>
                <a:latin typeface="Aptos"/>
              </a:defRPr>
            </a:pPr>
            <a:r>
              <a:t>and academic profile management</a:t>
            </a:r>
          </a:p>
        </p:txBody>
      </p:sp>
      <p:sp>
        <p:nvSpPr>
          <p:cNvPr id="8" name="Rectangle 7"/>
          <p:cNvSpPr/>
          <p:nvPr/>
        </p:nvSpPr>
        <p:spPr>
          <a:xfrm>
            <a:off x="868680" y="4251960"/>
            <a:ext cx="1234440" cy="64008"/>
          </a:xfrm>
          <a:prstGeom prst="rect">
            <a:avLst/>
          </a:prstGeom>
          <a:solidFill>
            <a:srgbClr val="F0B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617720"/>
            <a:ext cx="7132320" cy="347472"/>
          </a:xfrm>
          <a:prstGeom prst="rect">
            <a:avLst/>
          </a:prstGeom>
          <a:noFill/>
        </p:spPr>
        <p:txBody>
          <a:bodyPr wrap="square" lIns="54864" rIns="54864" tIns="54864" bIns="54864" anchor="t">
            <a:spAutoFit/>
          </a:bodyPr>
          <a:lstStyle/>
          <a:p>
            <a:pPr algn="l">
              <a:defRPr sz="1700" b="1">
                <a:solidFill>
                  <a:srgbClr val="FFFFFF"/>
                </a:solidFill>
                <a:latin typeface="Aptos"/>
              </a:defRPr>
            </a:pPr>
            <a:r>
              <a:t>TEAM LEADER: S. PRIYADHARSHINI</a:t>
            </a:r>
          </a:p>
        </p:txBody>
      </p:sp>
      <p:sp>
        <p:nvSpPr>
          <p:cNvPr id="10" name="TextBox 9"/>
          <p:cNvSpPr txBox="1"/>
          <p:nvPr/>
        </p:nvSpPr>
        <p:spPr>
          <a:xfrm>
            <a:off x="868680" y="5047488"/>
            <a:ext cx="10424160" cy="438912"/>
          </a:xfrm>
          <a:prstGeom prst="rect">
            <a:avLst/>
          </a:prstGeom>
          <a:noFill/>
        </p:spPr>
        <p:txBody>
          <a:bodyPr wrap="square" lIns="54864" rIns="54864" tIns="54864" bIns="54864" anchor="t">
            <a:spAutoFit/>
          </a:bodyPr>
          <a:lstStyle/>
          <a:p>
            <a:pPr algn="l">
              <a:defRPr sz="1300" b="0">
                <a:solidFill>
                  <a:srgbClr val="D7E1F0"/>
                </a:solidFill>
                <a:latin typeface="Aptos"/>
              </a:defRPr>
            </a:pPr>
            <a:r>
              <a:t>Puratchi Thalivar Dr. MGR Government Arts and Science College  |  College Code: TVU364</a:t>
            </a:r>
          </a:p>
        </p:txBody>
      </p:sp>
      <p:sp>
        <p:nvSpPr>
          <p:cNvPr id="11" name="TextBox 10"/>
          <p:cNvSpPr txBox="1"/>
          <p:nvPr/>
        </p:nvSpPr>
        <p:spPr>
          <a:xfrm>
            <a:off x="868680" y="5989320"/>
            <a:ext cx="7772400" cy="274320"/>
          </a:xfrm>
          <a:prstGeom prst="rect">
            <a:avLst/>
          </a:prstGeom>
          <a:noFill/>
        </p:spPr>
        <p:txBody>
          <a:bodyPr wrap="square" lIns="54864" rIns="54864" tIns="54864" bIns="54864" anchor="t">
            <a:spAutoFit/>
          </a:bodyPr>
          <a:lstStyle/>
          <a:p>
            <a:pPr algn="l">
              <a:defRPr sz="1100" b="0">
                <a:solidFill>
                  <a:srgbClr val="B4C8E1"/>
                </a:solidFill>
                <a:latin typeface="Aptos"/>
              </a:defRPr>
            </a:pPr>
            <a:r>
              <a:t>Formal 40-slide project documentation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Document Overview</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PROJECT DOCUMENTATION</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02</a:t>
            </a:r>
          </a:p>
        </p:txBody>
      </p:sp>
      <p:sp>
        <p:nvSpPr>
          <p:cNvPr id="7" name="TextBox 6"/>
          <p:cNvSpPr txBox="1"/>
          <p:nvPr/>
        </p:nvSpPr>
        <p:spPr>
          <a:xfrm>
            <a:off x="685800" y="1143000"/>
            <a:ext cx="10881360" cy="5074920"/>
          </a:xfrm>
          <a:prstGeom prst="rect">
            <a:avLst/>
          </a:prstGeom>
          <a:noFill/>
        </p:spPr>
        <p:txBody>
          <a:bodyPr wrap="square" lIns="109728" tIns="73152" bIns="36576" rIns="109728" anchor="t">
            <a:spAutoFit/>
          </a:bodyPr>
          <a:lstStyle/>
          <a:p>
            <a:pPr>
              <a:spcBef>
                <a:spcPts val="0"/>
              </a:spcBef>
              <a:spcAft>
                <a:spcPts val="150"/>
              </a:spcAft>
              <a:defRPr sz="1800">
                <a:solidFill>
                  <a:srgbClr val="232D3C"/>
                </a:solidFill>
                <a:latin typeface="Aptos"/>
              </a:defRPr>
            </a:pPr>
            <a:r>
              <a:rPr/>
              <a:t>1. TEAM LEADER — S. PRIYADHARSHINI</a:t>
            </a:r>
            <a:br/>
            <a:r>
              <a:rPr/>
              <a:t>Reg. No.: 36424U28033  |  NM ID: 11f58038c37762c947743c0c36491528@nm2026.in</a:t>
            </a:r>
            <a:br/>
            <a:r>
              <a:rPr/>
              <a:t>Email: spriyadhrshini150604@gmail.com</a:t>
            </a:r>
            <a:br/>
            <a:br/>
            <a:r>
              <a:rPr/>
              <a:t>2. TEAM MEMBER — NETHRA S</a:t>
            </a:r>
            <a:br/>
            <a:r>
              <a:rPr/>
              <a:t>Reg. No.: 36424U18026  |  NM ID: 1C31731263AC3CDB9A664C43AEF6E181C</a:t>
            </a:r>
            <a:br/>
            <a:r>
              <a:rPr/>
              <a:t>Email: nethras2489@gmail.com</a:t>
            </a:r>
            <a:br/>
            <a:br/>
            <a:r>
              <a:rPr/>
              <a:t>3. TEAM MEMBER — NADHIYA P</a:t>
            </a:r>
            <a:br/>
            <a:r>
              <a:rPr/>
              <a:t>Reg. No.: 36424U18024  |  NM ID: 2af7fd3a9958312a69642c993c63278e</a:t>
            </a:r>
            <a:br/>
            <a:r>
              <a:rPr/>
              <a:t>Email: 36424u18024@gmail.com</a:t>
            </a:r>
            <a:br/>
            <a:br/>
            <a:r>
              <a:rPr/>
              <a:t>4. TEAM MEMBER — RAJALAKSHMI R</a:t>
            </a:r>
            <a:br/>
            <a:r>
              <a:rPr/>
              <a:t>Reg. No.: 36424U18036  |  NM ID: EFF9A56FF15672BB16447F250235BEFC</a:t>
            </a:r>
            <a:br/>
            <a:r>
              <a:rPr/>
              <a:t>Email: bakiyalakshmi2218@gmail.com</a:t>
            </a:r>
            <a:br/>
            <a:br/>
            <a:r>
              <a:rPr/>
              <a:t>5. TEAM MEMBER — DHILIPKUMAR.S</a:t>
            </a:r>
            <a:br/>
            <a:r>
              <a:rPr/>
              <a:t>Reg. No.: 36424U1807  |  NM ID: ECD23DA5D1C55D1A5B7480FEBB8A1825</a:t>
            </a:r>
            <a:br/>
            <a:r>
              <a:rPr/>
              <a:t>Email: dhilipkumarcs007@gmail.com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Project Abstract</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PROJECT DOCUMENTATION</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03</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800">
                <a:solidFill>
                  <a:srgbClr val="232D3C"/>
                </a:solidFill>
                <a:latin typeface="Aptos"/>
              </a:defRPr>
            </a:pPr>
            <a:r>
              <a:t>•  The Student Enrollment and Course Management System is designed to help students view available courses and manage course enrollment through a centralized interface.</a:t>
            </a:r>
          </a:p>
          <a:p>
            <a:pPr>
              <a:spcAft>
                <a:spcPts val="1200"/>
              </a:spcAft>
              <a:defRPr sz="1800">
                <a:solidFill>
                  <a:srgbClr val="232D3C"/>
                </a:solidFill>
                <a:latin typeface="Aptos"/>
              </a:defRPr>
            </a:pPr>
            <a:r>
              <a:t>•  The application presents a login screen, a dashboard with enrollment statistics, a course catalogue, a course enrollment form, and a student profile.</a:t>
            </a:r>
          </a:p>
          <a:p>
            <a:pPr>
              <a:spcAft>
                <a:spcPts val="1200"/>
              </a:spcAft>
              <a:defRPr sz="1800">
                <a:solidFill>
                  <a:srgbClr val="232D3C"/>
                </a:solidFill>
                <a:latin typeface="Aptos"/>
              </a:defRPr>
            </a:pPr>
            <a:r>
              <a:t>•  The system aims to reduce manual enrollment work, make course information easier to access, and provide students with a clear view of their enrollment status.</a:t>
            </a:r>
          </a:p>
          <a:p>
            <a:pPr>
              <a:spcAft>
                <a:spcPts val="1200"/>
              </a:spcAft>
              <a:defRPr sz="1800">
                <a:solidFill>
                  <a:srgbClr val="232D3C"/>
                </a:solidFill>
                <a:latin typeface="Aptos"/>
              </a:defRPr>
            </a:pPr>
            <a:r>
              <a:t>•  An administrator role is represented in the login interface; administrator capabilities should be implemented according to the final requirements.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Problem Statement</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PROJECT DOCUMENTATION</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04</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800">
                <a:solidFill>
                  <a:srgbClr val="232D3C"/>
                </a:solidFill>
                <a:latin typeface="Aptos"/>
              </a:defRPr>
            </a:pPr>
            <a:r>
              <a:t>•  Course registration can become difficult when course details and enrollment records are maintained through disconnected or manual processes.</a:t>
            </a:r>
          </a:p>
          <a:p>
            <a:pPr>
              <a:spcAft>
                <a:spcPts val="1200"/>
              </a:spcAft>
              <a:defRPr sz="1800">
                <a:solidFill>
                  <a:srgbClr val="232D3C"/>
                </a:solidFill>
                <a:latin typeface="Aptos"/>
              </a:defRPr>
            </a:pPr>
            <a:r>
              <a:t>•  Students may need to contact staff to confirm course availability, credit values, or enrollment status.</a:t>
            </a:r>
          </a:p>
          <a:p>
            <a:pPr>
              <a:spcAft>
                <a:spcPts val="1200"/>
              </a:spcAft>
              <a:defRPr sz="1800">
                <a:solidFill>
                  <a:srgbClr val="232D3C"/>
                </a:solidFill>
                <a:latin typeface="Aptos"/>
              </a:defRPr>
            </a:pPr>
            <a:r>
              <a:t>•  Manual record handling can lead to duplicate entries, delayed updates, and limited visibility into student course selections.</a:t>
            </a:r>
          </a:p>
          <a:p>
            <a:pPr>
              <a:spcAft>
                <a:spcPts val="1200"/>
              </a:spcAft>
              <a:defRPr sz="1800">
                <a:solidFill>
                  <a:srgbClr val="232D3C"/>
                </a:solidFill>
                <a:latin typeface="Aptos"/>
              </a:defRPr>
            </a:pPr>
            <a:r>
              <a:t>•  The project addresses these challenges with a unified digital interface for course browsing, enrollment, and profile viewing.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Project Objectives</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PROJECT DOCUMENTATION</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05</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800">
                <a:solidFill>
                  <a:srgbClr val="232D3C"/>
                </a:solidFill>
                <a:latin typeface="Aptos"/>
              </a:defRPr>
            </a:pPr>
            <a:r>
              <a:t>•  Provide a simple and accessible login interface for authorized users.</a:t>
            </a:r>
          </a:p>
          <a:p>
            <a:pPr>
              <a:spcAft>
                <a:spcPts val="1200"/>
              </a:spcAft>
              <a:defRPr sz="1800">
                <a:solidFill>
                  <a:srgbClr val="232D3C"/>
                </a:solidFill>
                <a:latin typeface="Aptos"/>
              </a:defRPr>
            </a:pPr>
            <a:r>
              <a:t>•  Display course information such as course ID, course name, department, and credits.</a:t>
            </a:r>
          </a:p>
          <a:p>
            <a:pPr>
              <a:spcAft>
                <a:spcPts val="1200"/>
              </a:spcAft>
              <a:defRPr sz="1800">
                <a:solidFill>
                  <a:srgbClr val="232D3C"/>
                </a:solidFill>
                <a:latin typeface="Aptos"/>
              </a:defRPr>
            </a:pPr>
            <a:r>
              <a:t>•  Allow students to select a course and submit an enrollment request.</a:t>
            </a:r>
          </a:p>
          <a:p>
            <a:pPr>
              <a:spcAft>
                <a:spcPts val="1200"/>
              </a:spcAft>
              <a:defRPr sz="1800">
                <a:solidFill>
                  <a:srgbClr val="232D3C"/>
                </a:solidFill>
                <a:latin typeface="Aptos"/>
              </a:defRPr>
            </a:pPr>
            <a:r>
              <a:t>•  Show key dashboard metrics, including total courses and enrolled courses.</a:t>
            </a:r>
          </a:p>
          <a:p>
            <a:pPr>
              <a:spcAft>
                <a:spcPts val="1200"/>
              </a:spcAft>
              <a:defRPr sz="1800">
                <a:solidFill>
                  <a:srgbClr val="232D3C"/>
                </a:solidFill>
                <a:latin typeface="Aptos"/>
              </a:defRPr>
            </a:pPr>
            <a:r>
              <a:t>•  Provide a student profile view with academic and role information.</a:t>
            </a:r>
          </a:p>
          <a:p>
            <a:pPr>
              <a:spcAft>
                <a:spcPts val="1200"/>
              </a:spcAft>
              <a:defRPr sz="1800">
                <a:solidFill>
                  <a:srgbClr val="232D3C"/>
                </a:solidFill>
                <a:latin typeface="Aptos"/>
              </a:defRPr>
            </a:pPr>
            <a:r>
              <a:t>•  Support accurate, consistent, and maintainable enrollment records.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Project Scope</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PROJECT DOCUMENTATION</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06</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800">
                <a:solidFill>
                  <a:srgbClr val="232D3C"/>
                </a:solidFill>
                <a:latin typeface="Aptos"/>
              </a:defRPr>
            </a:pPr>
            <a:r>
              <a:t>•  In scope: authentication interface, role selection, student dashboard, course catalogue, enrollment workflow, enrollment overview, and student profile.</a:t>
            </a:r>
          </a:p>
          <a:p>
            <a:pPr>
              <a:spcAft>
                <a:spcPts val="1200"/>
              </a:spcAft>
              <a:defRPr sz="1800">
                <a:solidFill>
                  <a:srgbClr val="232D3C"/>
                </a:solidFill>
                <a:latin typeface="Aptos"/>
              </a:defRPr>
            </a:pPr>
            <a:r>
              <a:t>•  In scope: displaying course metadata and basic enrollment statistics.</a:t>
            </a:r>
          </a:p>
          <a:p>
            <a:pPr>
              <a:spcAft>
                <a:spcPts val="1200"/>
              </a:spcAft>
              <a:defRPr sz="1800">
                <a:solidFill>
                  <a:srgbClr val="232D3C"/>
                </a:solidFill>
                <a:latin typeface="Aptos"/>
              </a:defRPr>
            </a:pPr>
            <a:r>
              <a:t>•  Potential extension: administrator management of courses, students, and enrollment approvals.</a:t>
            </a:r>
          </a:p>
          <a:p>
            <a:pPr>
              <a:spcAft>
                <a:spcPts val="1200"/>
              </a:spcAft>
              <a:defRPr sz="1800">
                <a:solidFill>
                  <a:srgbClr val="232D3C"/>
                </a:solidFill>
                <a:latin typeface="Aptos"/>
              </a:defRPr>
            </a:pPr>
            <a:r>
              <a:t>•  Out of scope unless implemented separately: payment processing, learning content delivery, attendance tracking, grading, and timetable generation.</a:t>
            </a:r>
          </a:p>
          <a:p>
            <a:pPr>
              <a:spcAft>
                <a:spcPts val="1200"/>
              </a:spcAft>
              <a:defRPr sz="1800">
                <a:solidFill>
                  <a:srgbClr val="232D3C"/>
                </a:solidFill>
                <a:latin typeface="Aptos"/>
              </a:defRPr>
            </a:pPr>
            <a:r>
              <a:t>•  Scope should be finalized against the actual project code and approved requirements.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Target Users &amp; Stakeholders</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PROJECT DOCUMENTATION</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07</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800">
                <a:solidFill>
                  <a:srgbClr val="232D3C"/>
                </a:solidFill>
                <a:latin typeface="Aptos"/>
              </a:defRPr>
            </a:pPr>
            <a:r>
              <a:t>•  Students: browse the course catalogue, enroll in courses, review their enrollment status, and view profile details.</a:t>
            </a:r>
          </a:p>
          <a:p>
            <a:pPr>
              <a:spcAft>
                <a:spcPts val="1200"/>
              </a:spcAft>
              <a:defRPr sz="1800">
                <a:solidFill>
                  <a:srgbClr val="232D3C"/>
                </a:solidFill>
                <a:latin typeface="Aptos"/>
              </a:defRPr>
            </a:pPr>
            <a:r>
              <a:t>•  Administrator: may maintain course records and oversee enrollment data if the admin module is included.</a:t>
            </a:r>
          </a:p>
          <a:p>
            <a:pPr>
              <a:spcAft>
                <a:spcPts val="1200"/>
              </a:spcAft>
              <a:defRPr sz="1800">
                <a:solidFill>
                  <a:srgbClr val="232D3C"/>
                </a:solidFill>
                <a:latin typeface="Aptos"/>
              </a:defRPr>
            </a:pPr>
            <a:r>
              <a:t>•  Faculty or department staff: may use reports or course information in a future extension.</a:t>
            </a:r>
          </a:p>
          <a:p>
            <a:pPr>
              <a:spcAft>
                <a:spcPts val="1200"/>
              </a:spcAft>
              <a:defRPr sz="1800">
                <a:solidFill>
                  <a:srgbClr val="232D3C"/>
                </a:solidFill>
                <a:latin typeface="Aptos"/>
              </a:defRPr>
            </a:pPr>
            <a:r>
              <a:t>•  College/project guide: reviews the system against academic project requirements.</a:t>
            </a:r>
          </a:p>
          <a:p>
            <a:pPr>
              <a:spcAft>
                <a:spcPts val="1200"/>
              </a:spcAft>
              <a:defRPr sz="1800">
                <a:solidFill>
                  <a:srgbClr val="232D3C"/>
                </a:solidFill>
                <a:latin typeface="Aptos"/>
              </a:defRPr>
            </a:pPr>
            <a:r>
              <a:t>•  Development team: designs, implements, tests, documents, and demonstrates the system.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Key Features at a Glance</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PROJECT DOCUMENTATION</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08</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800">
                <a:solidFill>
                  <a:srgbClr val="232D3C"/>
                </a:solidFill>
                <a:latin typeface="Aptos"/>
              </a:defRPr>
            </a:pPr>
            <a:r>
              <a:t>•  Login page with username, password, and role selection.</a:t>
            </a:r>
          </a:p>
          <a:p>
            <a:pPr>
              <a:spcAft>
                <a:spcPts val="1200"/>
              </a:spcAft>
              <a:defRPr sz="1800">
                <a:solidFill>
                  <a:srgbClr val="232D3C"/>
                </a:solidFill>
                <a:latin typeface="Aptos"/>
              </a:defRPr>
            </a:pPr>
            <a:r>
              <a:t>•  Dashboard with Total Courses, Enrolled Courses, Pending Enrollments, and Available Courses.</a:t>
            </a:r>
          </a:p>
          <a:p>
            <a:pPr>
              <a:spcAft>
                <a:spcPts val="1200"/>
              </a:spcAft>
              <a:defRPr sz="1800">
                <a:solidFill>
                  <a:srgbClr val="232D3C"/>
                </a:solidFill>
                <a:latin typeface="Aptos"/>
              </a:defRPr>
            </a:pPr>
            <a:r>
              <a:t>•  Course catalogue table with course ID, course name, department, credits, and Enroll action.</a:t>
            </a:r>
          </a:p>
          <a:p>
            <a:pPr>
              <a:spcAft>
                <a:spcPts val="1200"/>
              </a:spcAft>
              <a:defRPr sz="1800">
                <a:solidFill>
                  <a:srgbClr val="232D3C"/>
                </a:solidFill>
                <a:latin typeface="Aptos"/>
              </a:defRPr>
            </a:pPr>
            <a:r>
              <a:t>•  Enrollment form with a course selector and Enroll Now button.</a:t>
            </a:r>
          </a:p>
          <a:p>
            <a:pPr>
              <a:spcAft>
                <a:spcPts val="1200"/>
              </a:spcAft>
              <a:defRPr sz="1800">
                <a:solidFill>
                  <a:srgbClr val="232D3C"/>
                </a:solidFill>
                <a:latin typeface="Aptos"/>
              </a:defRPr>
            </a:pPr>
            <a:r>
              <a:t>•  Student profile card showing name, course, department, and role.</a:t>
            </a:r>
          </a:p>
          <a:p>
            <a:pPr>
              <a:spcAft>
                <a:spcPts val="1200"/>
              </a:spcAft>
              <a:defRPr sz="1800">
                <a:solidFill>
                  <a:srgbClr val="232D3C"/>
                </a:solidFill>
                <a:latin typeface="Aptos"/>
              </a:defRPr>
            </a:pPr>
            <a:r>
              <a:t>•  Persistent navigation for Dashboard, View Courses, Enroll Course, My Enrollments, Profile, and Logout.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Phase 1 — Brainstorming &amp; Ideation</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1</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09</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800">
                <a:solidFill>
                  <a:srgbClr val="232D3C"/>
                </a:solidFill>
                <a:latin typeface="Aptos"/>
              </a:defRPr>
            </a:pPr>
            <a:r>
              <a:t>•  Identify common student pain points in course discovery and registration.</a:t>
            </a:r>
          </a:p>
          <a:p>
            <a:pPr>
              <a:spcAft>
                <a:spcPts val="1200"/>
              </a:spcAft>
              <a:defRPr sz="1800">
                <a:solidFill>
                  <a:srgbClr val="232D3C"/>
                </a:solidFill>
                <a:latin typeface="Aptos"/>
              </a:defRPr>
            </a:pPr>
            <a:r>
              <a:t>•  Discuss a centralized portal that combines course details, enrollment actions, and student information.</a:t>
            </a:r>
          </a:p>
          <a:p>
            <a:pPr>
              <a:spcAft>
                <a:spcPts val="1200"/>
              </a:spcAft>
              <a:defRPr sz="1800">
                <a:solidFill>
                  <a:srgbClr val="232D3C"/>
                </a:solidFill>
                <a:latin typeface="Aptos"/>
              </a:defRPr>
            </a:pPr>
            <a:r>
              <a:t>•  Review the supplied reference screens to establish the expected interface and user journey.</a:t>
            </a:r>
          </a:p>
          <a:p>
            <a:pPr>
              <a:spcAft>
                <a:spcPts val="1200"/>
              </a:spcAft>
              <a:defRPr sz="1800">
                <a:solidFill>
                  <a:srgbClr val="232D3C"/>
                </a:solidFill>
                <a:latin typeface="Aptos"/>
              </a:defRPr>
            </a:pPr>
            <a:r>
              <a:t>•  Define the initial concept: a straightforward, role-aware course enrollment portal.</a:t>
            </a:r>
          </a:p>
          <a:p>
            <a:pPr>
              <a:spcAft>
                <a:spcPts val="1200"/>
              </a:spcAft>
              <a:defRPr sz="1800">
                <a:solidFill>
                  <a:srgbClr val="232D3C"/>
                </a:solidFill>
                <a:latin typeface="Aptos"/>
              </a:defRPr>
            </a:pPr>
            <a:r>
              <a:t>•  Outcome: agreed project concept, target users, initial feature list, and project title.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Ideation: Proposed User Journey</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1</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10</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800">
                <a:solidFill>
                  <a:srgbClr val="232D3C"/>
                </a:solidFill>
                <a:latin typeface="Aptos"/>
              </a:defRPr>
            </a:pPr>
            <a:r>
              <a:t>•  1. User opens the application and reaches the login screen.</a:t>
            </a:r>
          </a:p>
          <a:p>
            <a:pPr>
              <a:spcAft>
                <a:spcPts val="1200"/>
              </a:spcAft>
              <a:defRPr sz="1800">
                <a:solidFill>
                  <a:srgbClr val="232D3C"/>
                </a:solidFill>
                <a:latin typeface="Aptos"/>
              </a:defRPr>
            </a:pPr>
            <a:r>
              <a:t>•  2. User enters credentials and selects the applicable role.</a:t>
            </a:r>
          </a:p>
          <a:p>
            <a:pPr>
              <a:spcAft>
                <a:spcPts val="1200"/>
              </a:spcAft>
              <a:defRPr sz="1800">
                <a:solidFill>
                  <a:srgbClr val="232D3C"/>
                </a:solidFill>
                <a:latin typeface="Aptos"/>
              </a:defRPr>
            </a:pPr>
            <a:r>
              <a:t>•  3. Student lands on the dashboard and reviews course/enrollment summaries.</a:t>
            </a:r>
          </a:p>
          <a:p>
            <a:pPr>
              <a:spcAft>
                <a:spcPts val="1200"/>
              </a:spcAft>
              <a:defRPr sz="1800">
                <a:solidFill>
                  <a:srgbClr val="232D3C"/>
                </a:solidFill>
                <a:latin typeface="Aptos"/>
              </a:defRPr>
            </a:pPr>
            <a:r>
              <a:t>•  4. Student opens View Courses and examines course details.</a:t>
            </a:r>
          </a:p>
          <a:p>
            <a:pPr>
              <a:spcAft>
                <a:spcPts val="1200"/>
              </a:spcAft>
              <a:defRPr sz="1800">
                <a:solidFill>
                  <a:srgbClr val="232D3C"/>
                </a:solidFill>
                <a:latin typeface="Aptos"/>
              </a:defRPr>
            </a:pPr>
            <a:r>
              <a:t>•  5. Student selects a course through Enroll Course and submits the enrollment.</a:t>
            </a:r>
          </a:p>
          <a:p>
            <a:pPr>
              <a:spcAft>
                <a:spcPts val="1200"/>
              </a:spcAft>
              <a:defRPr sz="1800">
                <a:solidFill>
                  <a:srgbClr val="232D3C"/>
                </a:solidFill>
                <a:latin typeface="Aptos"/>
              </a:defRPr>
            </a:pPr>
            <a:r>
              <a:t>•  6. Student checks My Enrollments and views profile information.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Phase 2 — Requirement Analysis</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2</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11</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800">
                <a:solidFill>
                  <a:srgbClr val="232D3C"/>
                </a:solidFill>
                <a:latin typeface="Aptos"/>
              </a:defRPr>
            </a:pPr>
            <a:r>
              <a:t>•  Collect functional requirements from the reference UI and project objective.</a:t>
            </a:r>
          </a:p>
          <a:p>
            <a:pPr>
              <a:spcAft>
                <a:spcPts val="1200"/>
              </a:spcAft>
              <a:defRPr sz="1800">
                <a:solidFill>
                  <a:srgbClr val="232D3C"/>
                </a:solidFill>
                <a:latin typeface="Aptos"/>
              </a:defRPr>
            </a:pPr>
            <a:r>
              <a:t>•  Identify user roles and the actions each role is permitted to perform.</a:t>
            </a:r>
          </a:p>
          <a:p>
            <a:pPr>
              <a:spcAft>
                <a:spcPts val="1200"/>
              </a:spcAft>
              <a:defRPr sz="1800">
                <a:solidFill>
                  <a:srgbClr val="232D3C"/>
                </a:solidFill>
                <a:latin typeface="Aptos"/>
              </a:defRPr>
            </a:pPr>
            <a:r>
              <a:t>•  Define data fields required for student, course, and enrollment records.</a:t>
            </a:r>
          </a:p>
          <a:p>
            <a:pPr>
              <a:spcAft>
                <a:spcPts val="1200"/>
              </a:spcAft>
              <a:defRPr sz="1800">
                <a:solidFill>
                  <a:srgbClr val="232D3C"/>
                </a:solidFill>
                <a:latin typeface="Aptos"/>
              </a:defRPr>
            </a:pPr>
            <a:r>
              <a:t>•  Document expected validations, success messages, and error states.</a:t>
            </a:r>
          </a:p>
          <a:p>
            <a:pPr>
              <a:spcAft>
                <a:spcPts val="1200"/>
              </a:spcAft>
              <a:defRPr sz="1800">
                <a:solidFill>
                  <a:srgbClr val="232D3C"/>
                </a:solidFill>
                <a:latin typeface="Aptos"/>
              </a:defRPr>
            </a:pPr>
            <a:r>
              <a:t>•  Establish non-functional expectations for usability, security, performance, reliability, and maintainability.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Functional Requirements</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2</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12</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600">
                <a:solidFill>
                  <a:srgbClr val="232D3C"/>
                </a:solidFill>
                <a:latin typeface="Aptos"/>
              </a:defRPr>
            </a:pPr>
            <a:r>
              <a:t>•  FR-01: The system shall provide a login form for username and password.</a:t>
            </a:r>
          </a:p>
          <a:p>
            <a:pPr>
              <a:spcAft>
                <a:spcPts val="1200"/>
              </a:spcAft>
              <a:defRPr sz="1600">
                <a:solidFill>
                  <a:srgbClr val="232D3C"/>
                </a:solidFill>
                <a:latin typeface="Aptos"/>
              </a:defRPr>
            </a:pPr>
            <a:r>
              <a:t>•  FR-02: The system shall provide a role selector, including the displayed Admin option.</a:t>
            </a:r>
          </a:p>
          <a:p>
            <a:pPr>
              <a:spcAft>
                <a:spcPts val="1200"/>
              </a:spcAft>
              <a:defRPr sz="1600">
                <a:solidFill>
                  <a:srgbClr val="232D3C"/>
                </a:solidFill>
                <a:latin typeface="Aptos"/>
              </a:defRPr>
            </a:pPr>
            <a:r>
              <a:t>•  FR-03: The student dashboard shall show course and enrollment summary values.</a:t>
            </a:r>
          </a:p>
          <a:p>
            <a:pPr>
              <a:spcAft>
                <a:spcPts val="1200"/>
              </a:spcAft>
              <a:defRPr sz="1600">
                <a:solidFill>
                  <a:srgbClr val="232D3C"/>
                </a:solidFill>
                <a:latin typeface="Aptos"/>
              </a:defRPr>
            </a:pPr>
            <a:r>
              <a:t>•  FR-04: The system shall display available courses with ID, name, department, and credits.</a:t>
            </a:r>
          </a:p>
          <a:p>
            <a:pPr>
              <a:spcAft>
                <a:spcPts val="1200"/>
              </a:spcAft>
              <a:defRPr sz="1600">
                <a:solidFill>
                  <a:srgbClr val="232D3C"/>
                </a:solidFill>
                <a:latin typeface="Aptos"/>
              </a:defRPr>
            </a:pPr>
            <a:r>
              <a:t>•  FR-05: The student shall be able to select a course and submit an enrollment request.</a:t>
            </a:r>
          </a:p>
          <a:p>
            <a:pPr>
              <a:spcAft>
                <a:spcPts val="1200"/>
              </a:spcAft>
              <a:defRPr sz="1600">
                <a:solidFill>
                  <a:srgbClr val="232D3C"/>
                </a:solidFill>
                <a:latin typeface="Aptos"/>
              </a:defRPr>
            </a:pPr>
            <a:r>
              <a:t>•  FR-06: The system shall provide a My Enrollments view and a student profile view.</a:t>
            </a:r>
          </a:p>
          <a:p>
            <a:pPr>
              <a:spcAft>
                <a:spcPts val="1200"/>
              </a:spcAft>
              <a:defRPr sz="1600">
                <a:solidFill>
                  <a:srgbClr val="232D3C"/>
                </a:solidFill>
                <a:latin typeface="Aptos"/>
              </a:defRPr>
            </a:pPr>
            <a:r>
              <a:t>•  FR-07: The system shall provide navigation to the listed modules and a logout action.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Non-Functional Requirements</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2</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13</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700">
                <a:solidFill>
                  <a:srgbClr val="232D3C"/>
                </a:solidFill>
                <a:latin typeface="Aptos"/>
              </a:defRPr>
            </a:pPr>
            <a:r>
              <a:t>•  Usability: clear labels, consistent navigation, readable typography, and understandable feedback.</a:t>
            </a:r>
          </a:p>
          <a:p>
            <a:pPr>
              <a:spcAft>
                <a:spcPts val="1200"/>
              </a:spcAft>
              <a:defRPr sz="1700">
                <a:solidFill>
                  <a:srgbClr val="232D3C"/>
                </a:solidFill>
                <a:latin typeface="Aptos"/>
              </a:defRPr>
            </a:pPr>
            <a:r>
              <a:t>•  Security: authenticated access, role-based authorization, secure password storage, and protected sessions.</a:t>
            </a:r>
          </a:p>
          <a:p>
            <a:pPr>
              <a:spcAft>
                <a:spcPts val="1200"/>
              </a:spcAft>
              <a:defRPr sz="1700">
                <a:solidFill>
                  <a:srgbClr val="232D3C"/>
                </a:solidFill>
                <a:latin typeface="Aptos"/>
              </a:defRPr>
            </a:pPr>
            <a:r>
              <a:t>•  Performance: common screens should load promptly under the expected student workload.</a:t>
            </a:r>
          </a:p>
          <a:p>
            <a:pPr>
              <a:spcAft>
                <a:spcPts val="1200"/>
              </a:spcAft>
              <a:defRPr sz="1700">
                <a:solidFill>
                  <a:srgbClr val="232D3C"/>
                </a:solidFill>
                <a:latin typeface="Aptos"/>
              </a:defRPr>
            </a:pPr>
            <a:r>
              <a:t>•  Reliability: enrollment operations should avoid duplicate records and preserve data consistency.</a:t>
            </a:r>
          </a:p>
          <a:p>
            <a:pPr>
              <a:spcAft>
                <a:spcPts val="1200"/>
              </a:spcAft>
              <a:defRPr sz="1700">
                <a:solidFill>
                  <a:srgbClr val="232D3C"/>
                </a:solidFill>
                <a:latin typeface="Aptos"/>
              </a:defRPr>
            </a:pPr>
            <a:r>
              <a:t>•  Compatibility: responsive layout for common desktop and mobile screen sizes.</a:t>
            </a:r>
          </a:p>
          <a:p>
            <a:pPr>
              <a:spcAft>
                <a:spcPts val="1200"/>
              </a:spcAft>
              <a:defRPr sz="1700">
                <a:solidFill>
                  <a:srgbClr val="232D3C"/>
                </a:solidFill>
                <a:latin typeface="Aptos"/>
              </a:defRPr>
            </a:pPr>
            <a:r>
              <a:t>•  Maintainability: modular code, documented database structure, and testable components.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Business Rules &amp; Validations</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2</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14</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700">
                <a:solidFill>
                  <a:srgbClr val="232D3C"/>
                </a:solidFill>
                <a:latin typeface="Aptos"/>
              </a:defRPr>
            </a:pPr>
            <a:r>
              <a:t>•  A student should not be enrolled in the same course more than once.</a:t>
            </a:r>
          </a:p>
          <a:p>
            <a:pPr>
              <a:spcAft>
                <a:spcPts val="1200"/>
              </a:spcAft>
              <a:defRPr sz="1700">
                <a:solidFill>
                  <a:srgbClr val="232D3C"/>
                </a:solidFill>
                <a:latin typeface="Aptos"/>
              </a:defRPr>
            </a:pPr>
            <a:r>
              <a:t>•  Enrollment should only be accepted for a valid course that is open for registration.</a:t>
            </a:r>
          </a:p>
          <a:p>
            <a:pPr>
              <a:spcAft>
                <a:spcPts val="1200"/>
              </a:spcAft>
              <a:defRPr sz="1700">
                <a:solidFill>
                  <a:srgbClr val="232D3C"/>
                </a:solidFill>
                <a:latin typeface="Aptos"/>
              </a:defRPr>
            </a:pPr>
            <a:r>
              <a:t>•  Required login fields must not be empty; invalid credentials should be rejected.</a:t>
            </a:r>
          </a:p>
          <a:p>
            <a:pPr>
              <a:spcAft>
                <a:spcPts val="1200"/>
              </a:spcAft>
              <a:defRPr sz="1700">
                <a:solidFill>
                  <a:srgbClr val="232D3C"/>
                </a:solidFill>
                <a:latin typeface="Aptos"/>
              </a:defRPr>
            </a:pPr>
            <a:r>
              <a:t>•  Course credit values must be valid numeric values within the institution's policy.</a:t>
            </a:r>
          </a:p>
          <a:p>
            <a:pPr>
              <a:spcAft>
                <a:spcPts val="1200"/>
              </a:spcAft>
              <a:defRPr sz="1700">
                <a:solidFill>
                  <a:srgbClr val="232D3C"/>
                </a:solidFill>
                <a:latin typeface="Aptos"/>
              </a:defRPr>
            </a:pPr>
            <a:r>
              <a:t>•  Dashboard counts should be calculated from current course and enrollment records.</a:t>
            </a:r>
          </a:p>
          <a:p>
            <a:pPr>
              <a:spcAft>
                <a:spcPts val="1200"/>
              </a:spcAft>
              <a:defRPr sz="1700">
                <a:solidFill>
                  <a:srgbClr val="232D3C"/>
                </a:solidFill>
                <a:latin typeface="Aptos"/>
              </a:defRPr>
            </a:pPr>
            <a:r>
              <a:t>•  Rules such as capacity limits, prerequisites, approval, and credit-load limits should be added only if required by the college.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Phase 3 — Project Design</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3</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15</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800">
                <a:solidFill>
                  <a:srgbClr val="232D3C"/>
                </a:solidFill>
                <a:latin typeface="Aptos"/>
              </a:defRPr>
            </a:pPr>
            <a:r>
              <a:t>•  Design the system around clearly separated user interface, application logic, and data storage layers.</a:t>
            </a:r>
          </a:p>
          <a:p>
            <a:pPr>
              <a:spcAft>
                <a:spcPts val="1200"/>
              </a:spcAft>
              <a:defRPr sz="1800">
                <a:solidFill>
                  <a:srgbClr val="232D3C"/>
                </a:solidFill>
                <a:latin typeface="Aptos"/>
              </a:defRPr>
            </a:pPr>
            <a:r>
              <a:t>•  Use a consistent navigation layout with a top header, left sidebar, and main content panel.</a:t>
            </a:r>
          </a:p>
          <a:p>
            <a:pPr>
              <a:spcAft>
                <a:spcPts val="1200"/>
              </a:spcAft>
              <a:defRPr sz="1800">
                <a:solidFill>
                  <a:srgbClr val="232D3C"/>
                </a:solidFill>
                <a:latin typeface="Aptos"/>
              </a:defRPr>
            </a:pPr>
            <a:r>
              <a:t>•  Keep common actions prominent: browse courses, enroll, view enrollments, and open profile.</a:t>
            </a:r>
          </a:p>
          <a:p>
            <a:pPr>
              <a:spcAft>
                <a:spcPts val="1200"/>
              </a:spcAft>
              <a:defRPr sz="1800">
                <a:solidFill>
                  <a:srgbClr val="232D3C"/>
                </a:solidFill>
                <a:latin typeface="Aptos"/>
              </a:defRPr>
            </a:pPr>
            <a:r>
              <a:t>•  Use reusable components for cards, forms, tables, alerts, and navigation.</a:t>
            </a:r>
          </a:p>
          <a:p>
            <a:pPr>
              <a:spcAft>
                <a:spcPts val="1200"/>
              </a:spcAft>
              <a:defRPr sz="1800">
                <a:solidFill>
                  <a:srgbClr val="232D3C"/>
                </a:solidFill>
                <a:latin typeface="Aptos"/>
              </a:defRPr>
            </a:pPr>
            <a:r>
              <a:t>•  Outcome: UI layout, user flow, data model, and component-level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System Architecture (Proposed)</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3</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16</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700">
                <a:solidFill>
                  <a:srgbClr val="232D3C"/>
                </a:solidFill>
                <a:latin typeface="Aptos"/>
              </a:defRPr>
            </a:pPr>
            <a:r>
              <a:t>•  Presentation layer: login page, dashboard, course list, enrollment form, enrollments page, and profile.</a:t>
            </a:r>
          </a:p>
          <a:p>
            <a:pPr>
              <a:spcAft>
                <a:spcPts val="1200"/>
              </a:spcAft>
              <a:defRPr sz="1700">
                <a:solidFill>
                  <a:srgbClr val="232D3C"/>
                </a:solidFill>
                <a:latin typeface="Aptos"/>
              </a:defRPr>
            </a:pPr>
            <a:r>
              <a:t>•  Application layer: authentication, role checks, course retrieval, enrollment validation, and dashboard calculations.</a:t>
            </a:r>
          </a:p>
          <a:p>
            <a:pPr>
              <a:spcAft>
                <a:spcPts val="1200"/>
              </a:spcAft>
              <a:defRPr sz="1700">
                <a:solidFill>
                  <a:srgbClr val="232D3C"/>
                </a:solidFill>
                <a:latin typeface="Aptos"/>
              </a:defRPr>
            </a:pPr>
            <a:r>
              <a:t>•  Data layer: student/user records, course records, and enrollment records.</a:t>
            </a:r>
          </a:p>
          <a:p>
            <a:pPr>
              <a:spcAft>
                <a:spcPts val="1200"/>
              </a:spcAft>
              <a:defRPr sz="1700">
                <a:solidFill>
                  <a:srgbClr val="232D3C"/>
                </a:solidFill>
                <a:latin typeface="Aptos"/>
              </a:defRPr>
            </a:pPr>
            <a:r>
              <a:t>•  Request flow: user action → validation and authorization → application operation → database read/write → response shown in UI.</a:t>
            </a:r>
          </a:p>
          <a:p>
            <a:pPr>
              <a:spcAft>
                <a:spcPts val="1200"/>
              </a:spcAft>
              <a:defRPr sz="1700">
                <a:solidFill>
                  <a:srgbClr val="232D3C"/>
                </a:solidFill>
                <a:latin typeface="Aptos"/>
              </a:defRPr>
            </a:pPr>
            <a:r>
              <a:t>•  Architecture is a logical proposal; map the layers to the actual framework and code structure used in the project.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Use Case Summary</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3</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17</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700">
                <a:solidFill>
                  <a:srgbClr val="232D3C"/>
                </a:solidFill>
                <a:latin typeface="Aptos"/>
              </a:defRPr>
            </a:pPr>
            <a:r>
              <a:t>•  Student — Login: enter credentials and access the student workspace.</a:t>
            </a:r>
          </a:p>
          <a:p>
            <a:pPr>
              <a:spcAft>
                <a:spcPts val="1200"/>
              </a:spcAft>
              <a:defRPr sz="1700">
                <a:solidFill>
                  <a:srgbClr val="232D3C"/>
                </a:solidFill>
                <a:latin typeface="Aptos"/>
              </a:defRPr>
            </a:pPr>
            <a:r>
              <a:t>•  Student — Browse Courses: view course identifiers, names, departments, and credit values.</a:t>
            </a:r>
          </a:p>
          <a:p>
            <a:pPr>
              <a:spcAft>
                <a:spcPts val="1200"/>
              </a:spcAft>
              <a:defRPr sz="1700">
                <a:solidFill>
                  <a:srgbClr val="232D3C"/>
                </a:solidFill>
                <a:latin typeface="Aptos"/>
              </a:defRPr>
            </a:pPr>
            <a:r>
              <a:t>•  Student — Enroll: choose a course and submit an enrollment request.</a:t>
            </a:r>
          </a:p>
          <a:p>
            <a:pPr>
              <a:spcAft>
                <a:spcPts val="1200"/>
              </a:spcAft>
              <a:defRPr sz="1700">
                <a:solidFill>
                  <a:srgbClr val="232D3C"/>
                </a:solidFill>
                <a:latin typeface="Aptos"/>
              </a:defRPr>
            </a:pPr>
            <a:r>
              <a:t>•  Student — View Enrollments: review courses already selected and their status.</a:t>
            </a:r>
          </a:p>
          <a:p>
            <a:pPr>
              <a:spcAft>
                <a:spcPts val="1200"/>
              </a:spcAft>
              <a:defRPr sz="1700">
                <a:solidFill>
                  <a:srgbClr val="232D3C"/>
                </a:solidFill>
                <a:latin typeface="Aptos"/>
              </a:defRPr>
            </a:pPr>
            <a:r>
              <a:t>•  Student — View Profile: review name, program, department, and role.</a:t>
            </a:r>
          </a:p>
          <a:p>
            <a:pPr>
              <a:spcAft>
                <a:spcPts val="1200"/>
              </a:spcAft>
              <a:defRPr sz="1700">
                <a:solidFill>
                  <a:srgbClr val="232D3C"/>
                </a:solidFill>
                <a:latin typeface="Aptos"/>
              </a:defRPr>
            </a:pPr>
            <a:r>
              <a:t>•  Administrator — Manage Records: optional use case if the admin functions are included in the implementation.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Data Model / Core Entities</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3</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18</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600">
                <a:solidFill>
                  <a:srgbClr val="232D3C"/>
                </a:solidFill>
                <a:latin typeface="Aptos"/>
              </a:defRPr>
            </a:pPr>
            <a:r>
              <a:t>•  User: user_id, username, password_hash, role, account_status.</a:t>
            </a:r>
          </a:p>
          <a:p>
            <a:pPr>
              <a:spcAft>
                <a:spcPts val="1200"/>
              </a:spcAft>
              <a:defRPr sz="1600">
                <a:solidFill>
                  <a:srgbClr val="232D3C"/>
                </a:solidFill>
                <a:latin typeface="Aptos"/>
              </a:defRPr>
            </a:pPr>
            <a:r>
              <a:t>•  Student: student_id, user_id, full_name, registration_number, program, department, email.</a:t>
            </a:r>
          </a:p>
          <a:p>
            <a:pPr>
              <a:spcAft>
                <a:spcPts val="1200"/>
              </a:spcAft>
              <a:defRPr sz="1600">
                <a:solidFill>
                  <a:srgbClr val="232D3C"/>
                </a:solidFill>
                <a:latin typeface="Aptos"/>
              </a:defRPr>
            </a:pPr>
            <a:r>
              <a:t>•  Course: course_id, course_name, department, credits, availability_status.</a:t>
            </a:r>
          </a:p>
          <a:p>
            <a:pPr>
              <a:spcAft>
                <a:spcPts val="1200"/>
              </a:spcAft>
              <a:defRPr sz="1600">
                <a:solidFill>
                  <a:srgbClr val="232D3C"/>
                </a:solidFill>
                <a:latin typeface="Aptos"/>
              </a:defRPr>
            </a:pPr>
            <a:r>
              <a:t>•  Enrollment: enrollment_id, student_id, course_id, enrollment_date, enrollment_status.</a:t>
            </a:r>
          </a:p>
          <a:p>
            <a:pPr>
              <a:spcAft>
                <a:spcPts val="1200"/>
              </a:spcAft>
              <a:defRPr sz="1600">
                <a:solidFill>
                  <a:srgbClr val="232D3C"/>
                </a:solidFill>
                <a:latin typeface="Aptos"/>
              </a:defRPr>
            </a:pPr>
            <a:r>
              <a:t>•  Relationships: one user may map to one student profile; a student may have many enrollments; a course may have many student enrollments.</a:t>
            </a:r>
          </a:p>
          <a:p>
            <a:pPr>
              <a:spcAft>
                <a:spcPts val="1200"/>
              </a:spcAft>
              <a:defRPr sz="1600">
                <a:solidFill>
                  <a:srgbClr val="232D3C"/>
                </a:solidFill>
                <a:latin typeface="Aptos"/>
              </a:defRPr>
            </a:pPr>
            <a:r>
              <a:t>•  Use primary keys, foreign keys, and a unique constraint on the student–course pair to protect data integrity.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UI Design Principles</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3</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19</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700">
                <a:solidFill>
                  <a:srgbClr val="232D3C"/>
                </a:solidFill>
                <a:latin typeface="Aptos"/>
              </a:defRPr>
            </a:pPr>
            <a:r>
              <a:t>•  Use a stable top navigation bar to show the system title and signed-in user.</a:t>
            </a:r>
          </a:p>
          <a:p>
            <a:pPr>
              <a:spcAft>
                <a:spcPts val="1200"/>
              </a:spcAft>
              <a:defRPr sz="1700">
                <a:solidFill>
                  <a:srgbClr val="232D3C"/>
                </a:solidFill>
                <a:latin typeface="Aptos"/>
              </a:defRPr>
            </a:pPr>
            <a:r>
              <a:t>•  Use a dark sidebar to keep primary modules visible and easy to locate.</a:t>
            </a:r>
          </a:p>
          <a:p>
            <a:pPr>
              <a:spcAft>
                <a:spcPts val="1200"/>
              </a:spcAft>
              <a:defRPr sz="1700">
                <a:solidFill>
                  <a:srgbClr val="232D3C"/>
                </a:solidFill>
                <a:latin typeface="Aptos"/>
              </a:defRPr>
            </a:pPr>
            <a:r>
              <a:t>•  Use a light main canvas and white content cards to improve contrast and grouping.</a:t>
            </a:r>
          </a:p>
          <a:p>
            <a:pPr>
              <a:spcAft>
                <a:spcPts val="1200"/>
              </a:spcAft>
              <a:defRPr sz="1700">
                <a:solidFill>
                  <a:srgbClr val="232D3C"/>
                </a:solidFill>
                <a:latin typeface="Aptos"/>
              </a:defRPr>
            </a:pPr>
            <a:r>
              <a:t>•  Use blue for primary actions and distinct colors for dashboard metric cards.</a:t>
            </a:r>
          </a:p>
          <a:p>
            <a:pPr>
              <a:spcAft>
                <a:spcPts val="1200"/>
              </a:spcAft>
              <a:defRPr sz="1700">
                <a:solidFill>
                  <a:srgbClr val="232D3C"/>
                </a:solidFill>
                <a:latin typeface="Aptos"/>
              </a:defRPr>
            </a:pPr>
            <a:r>
              <a:t>•  Maintain consistent spacing, button sizes, table borders, headings, and form labels.</a:t>
            </a:r>
          </a:p>
          <a:p>
            <a:pPr>
              <a:spcAft>
                <a:spcPts val="1200"/>
              </a:spcAft>
              <a:defRPr sz="1700">
                <a:solidFill>
                  <a:srgbClr val="232D3C"/>
                </a:solidFill>
                <a:latin typeface="Aptos"/>
              </a:defRPr>
            </a:pPr>
            <a:r>
              <a:t>•  Ensure color is not the only way to communicate status; pair it with text.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Interface Reference: Login</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3</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20</a:t>
            </a:r>
          </a:p>
        </p:txBody>
      </p:sp>
      <p:sp>
        <p:nvSpPr>
          <p:cNvPr id="7" name="TextBox 6"/>
          <p:cNvSpPr txBox="1"/>
          <p:nvPr/>
        </p:nvSpPr>
        <p:spPr>
          <a:xfrm>
            <a:off x="658368" y="932688"/>
            <a:ext cx="4572000" cy="457200"/>
          </a:xfrm>
          <a:prstGeom prst="rect">
            <a:avLst/>
          </a:prstGeom>
          <a:noFill/>
        </p:spPr>
        <p:txBody>
          <a:bodyPr wrap="square" lIns="54864" rIns="54864" tIns="54864" bIns="54864" anchor="t">
            <a:spAutoFit/>
          </a:bodyPr>
          <a:lstStyle/>
          <a:p>
            <a:pPr algn="l">
              <a:defRPr sz="2200" b="1">
                <a:solidFill>
                  <a:srgbClr val="162B53"/>
                </a:solidFill>
                <a:latin typeface="Aptos"/>
              </a:defRPr>
            </a:pPr>
            <a:r>
              <a:t>Login Screen</a:t>
            </a:r>
          </a:p>
        </p:txBody>
      </p:sp>
      <p:sp>
        <p:nvSpPr>
          <p:cNvPr id="8" name="TextBox 7"/>
          <p:cNvSpPr txBox="1"/>
          <p:nvPr/>
        </p:nvSpPr>
        <p:spPr>
          <a:xfrm>
            <a:off x="658368" y="1508760"/>
            <a:ext cx="3931920" cy="4297680"/>
          </a:xfrm>
          <a:prstGeom prst="rect">
            <a:avLst/>
          </a:prstGeom>
          <a:noFill/>
        </p:spPr>
        <p:txBody>
          <a:bodyPr wrap="square" lIns="137160" tIns="109728" bIns="73152">
            <a:spAutoFit/>
          </a:bodyPr>
          <a:lstStyle/>
          <a:p>
            <a:pPr>
              <a:spcAft>
                <a:spcPts val="1400"/>
              </a:spcAft>
              <a:defRPr sz="1700">
                <a:solidFill>
                  <a:srgbClr val="232D3C"/>
                </a:solidFill>
                <a:latin typeface="Aptos"/>
              </a:defRPr>
            </a:pPr>
            <a:r>
              <a:t>•  Username and password inputs</a:t>
            </a:r>
          </a:p>
          <a:p>
            <a:pPr>
              <a:spcAft>
                <a:spcPts val="1400"/>
              </a:spcAft>
              <a:defRPr sz="1700">
                <a:solidFill>
                  <a:srgbClr val="232D3C"/>
                </a:solidFill>
                <a:latin typeface="Aptos"/>
              </a:defRPr>
            </a:pPr>
            <a:r>
              <a:t>•  Role selection dropdown</a:t>
            </a:r>
          </a:p>
          <a:p>
            <a:pPr>
              <a:spcAft>
                <a:spcPts val="1400"/>
              </a:spcAft>
              <a:defRPr sz="1700">
                <a:solidFill>
                  <a:srgbClr val="232D3C"/>
                </a:solidFill>
                <a:latin typeface="Aptos"/>
              </a:defRPr>
            </a:pPr>
            <a:r>
              <a:t>•  Single primary Login action</a:t>
            </a:r>
          </a:p>
          <a:p>
            <a:pPr>
              <a:spcAft>
                <a:spcPts val="1400"/>
              </a:spcAft>
              <a:defRPr sz="1700">
                <a:solidFill>
                  <a:srgbClr val="232D3C"/>
                </a:solidFill>
                <a:latin typeface="Aptos"/>
              </a:defRPr>
            </a:pPr>
            <a:r>
              <a:t>•  Centered card layout with graduation-cap icon</a:t>
            </a:r>
          </a:p>
        </p:txBody>
      </p:sp>
      <p:pic>
        <p:nvPicPr>
          <p:cNvPr id="9" name="Picture 8" descr="1000077524.jpg"/>
          <p:cNvPicPr>
            <a:picLocks noChangeAspect="1"/>
          </p:cNvPicPr>
          <p:nvPr/>
        </p:nvPicPr>
        <p:blipFill>
          <a:blip r:embed="rId2"/>
          <a:stretch>
            <a:fillRect/>
          </a:stretch>
        </p:blipFill>
        <p:spPr>
          <a:xfrm>
            <a:off x="4800600" y="1754944"/>
            <a:ext cx="6812279" cy="366815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Interface Reference: Student Dashboard</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3</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21</a:t>
            </a:r>
          </a:p>
        </p:txBody>
      </p:sp>
      <p:sp>
        <p:nvSpPr>
          <p:cNvPr id="7" name="TextBox 6"/>
          <p:cNvSpPr txBox="1"/>
          <p:nvPr/>
        </p:nvSpPr>
        <p:spPr>
          <a:xfrm>
            <a:off x="658368" y="914400"/>
            <a:ext cx="4572000" cy="411480"/>
          </a:xfrm>
          <a:prstGeom prst="rect">
            <a:avLst/>
          </a:prstGeom>
          <a:noFill/>
        </p:spPr>
        <p:txBody>
          <a:bodyPr wrap="square" lIns="54864" rIns="54864" tIns="54864" bIns="54864" anchor="t">
            <a:spAutoFit/>
          </a:bodyPr>
          <a:lstStyle/>
          <a:p>
            <a:pPr algn="l">
              <a:defRPr sz="2200" b="1">
                <a:solidFill>
                  <a:srgbClr val="162B53"/>
                </a:solidFill>
                <a:latin typeface="Aptos"/>
              </a:defRPr>
            </a:pPr>
            <a:r>
              <a:t>Dashboard Summary</a:t>
            </a:r>
          </a:p>
        </p:txBody>
      </p:sp>
      <p:sp>
        <p:nvSpPr>
          <p:cNvPr id="8" name="TextBox 7"/>
          <p:cNvSpPr txBox="1"/>
          <p:nvPr/>
        </p:nvSpPr>
        <p:spPr>
          <a:xfrm>
            <a:off x="658368" y="1417320"/>
            <a:ext cx="3931920" cy="4389120"/>
          </a:xfrm>
          <a:prstGeom prst="rect">
            <a:avLst/>
          </a:prstGeom>
          <a:noFill/>
        </p:spPr>
        <p:txBody>
          <a:bodyPr wrap="square" lIns="137160" tIns="109728" bIns="73152">
            <a:spAutoFit/>
          </a:bodyPr>
          <a:lstStyle/>
          <a:p>
            <a:pPr>
              <a:spcAft>
                <a:spcPts val="1600"/>
              </a:spcAft>
              <a:defRPr sz="1700">
                <a:solidFill>
                  <a:srgbClr val="232D3C"/>
                </a:solidFill>
                <a:latin typeface="Aptos"/>
              </a:defRPr>
            </a:pPr>
            <a:r>
              <a:t>•  Welcome message identifies the signed-in student.</a:t>
            </a:r>
          </a:p>
          <a:p>
            <a:pPr>
              <a:spcAft>
                <a:spcPts val="1600"/>
              </a:spcAft>
              <a:defRPr sz="1700">
                <a:solidFill>
                  <a:srgbClr val="232D3C"/>
                </a:solidFill>
                <a:latin typeface="Aptos"/>
              </a:defRPr>
            </a:pPr>
            <a:r>
              <a:t>•  Metric cards show total, enrolled, pending, and available courses.</a:t>
            </a:r>
          </a:p>
          <a:p>
            <a:pPr>
              <a:spcAft>
                <a:spcPts val="1600"/>
              </a:spcAft>
              <a:defRPr sz="1700">
                <a:solidFill>
                  <a:srgbClr val="232D3C"/>
                </a:solidFill>
                <a:latin typeface="Aptos"/>
              </a:defRPr>
            </a:pPr>
            <a:r>
              <a:t>•  Quick actions provide shortcuts to course browsing and enrollments.</a:t>
            </a:r>
          </a:p>
        </p:txBody>
      </p:sp>
      <p:pic>
        <p:nvPicPr>
          <p:cNvPr id="9" name="Picture 8" descr="1000077536.jpg"/>
          <p:cNvPicPr>
            <a:picLocks noChangeAspect="1"/>
          </p:cNvPicPr>
          <p:nvPr/>
        </p:nvPicPr>
        <p:blipFill>
          <a:blip r:embed="rId2"/>
          <a:stretch>
            <a:fillRect/>
          </a:stretch>
        </p:blipFill>
        <p:spPr>
          <a:xfrm>
            <a:off x="4709160" y="2268315"/>
            <a:ext cx="6995160" cy="259568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Interface Reference: Available Courses</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3</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22</a:t>
            </a:r>
          </a:p>
        </p:txBody>
      </p:sp>
      <p:sp>
        <p:nvSpPr>
          <p:cNvPr id="7" name="TextBox 6"/>
          <p:cNvSpPr txBox="1"/>
          <p:nvPr/>
        </p:nvSpPr>
        <p:spPr>
          <a:xfrm>
            <a:off x="658368" y="914400"/>
            <a:ext cx="4572000" cy="411480"/>
          </a:xfrm>
          <a:prstGeom prst="rect">
            <a:avLst/>
          </a:prstGeom>
          <a:noFill/>
        </p:spPr>
        <p:txBody>
          <a:bodyPr wrap="square" lIns="54864" rIns="54864" tIns="54864" bIns="54864" anchor="t">
            <a:spAutoFit/>
          </a:bodyPr>
          <a:lstStyle/>
          <a:p>
            <a:pPr algn="l">
              <a:defRPr sz="2200" b="1">
                <a:solidFill>
                  <a:srgbClr val="162B53"/>
                </a:solidFill>
                <a:latin typeface="Aptos"/>
              </a:defRPr>
            </a:pPr>
            <a:r>
              <a:t>Course Catalogue</a:t>
            </a:r>
          </a:p>
        </p:txBody>
      </p:sp>
      <p:sp>
        <p:nvSpPr>
          <p:cNvPr id="8" name="TextBox 7"/>
          <p:cNvSpPr txBox="1"/>
          <p:nvPr/>
        </p:nvSpPr>
        <p:spPr>
          <a:xfrm>
            <a:off x="658368" y="1417320"/>
            <a:ext cx="3840480" cy="4480560"/>
          </a:xfrm>
          <a:prstGeom prst="rect">
            <a:avLst/>
          </a:prstGeom>
          <a:noFill/>
        </p:spPr>
        <p:txBody>
          <a:bodyPr wrap="square" lIns="137160" tIns="109728" bIns="73152">
            <a:spAutoFit/>
          </a:bodyPr>
          <a:lstStyle/>
          <a:p>
            <a:pPr>
              <a:spcAft>
                <a:spcPts val="1400"/>
              </a:spcAft>
              <a:defRPr sz="1600">
                <a:solidFill>
                  <a:srgbClr val="232D3C"/>
                </a:solidFill>
                <a:latin typeface="Aptos"/>
              </a:defRPr>
            </a:pPr>
            <a:r>
              <a:t>•  Table columns: Course ID, Course Name, Department, Credits, and Action.</a:t>
            </a:r>
          </a:p>
          <a:p>
            <a:pPr>
              <a:spcAft>
                <a:spcPts val="1400"/>
              </a:spcAft>
              <a:defRPr sz="1600">
                <a:solidFill>
                  <a:srgbClr val="232D3C"/>
                </a:solidFill>
                <a:latin typeface="Aptos"/>
              </a:defRPr>
            </a:pPr>
            <a:r>
              <a:t>•  Each course row offers an Enroll action.</a:t>
            </a:r>
          </a:p>
          <a:p>
            <a:pPr>
              <a:spcAft>
                <a:spcPts val="1400"/>
              </a:spcAft>
              <a:defRPr sz="1600">
                <a:solidFill>
                  <a:srgbClr val="232D3C"/>
                </a:solidFill>
                <a:latin typeface="Aptos"/>
              </a:defRPr>
            </a:pPr>
            <a:r>
              <a:t>•  Visible examples include CSE101, CSE102, CSE103, and ECE101.</a:t>
            </a:r>
          </a:p>
        </p:txBody>
      </p:sp>
      <p:pic>
        <p:nvPicPr>
          <p:cNvPr id="9" name="Picture 8" descr="1000077533.jpg"/>
          <p:cNvPicPr>
            <a:picLocks noChangeAspect="1"/>
          </p:cNvPicPr>
          <p:nvPr/>
        </p:nvPicPr>
        <p:blipFill>
          <a:blip r:embed="rId2"/>
          <a:stretch>
            <a:fillRect/>
          </a:stretch>
        </p:blipFill>
        <p:spPr>
          <a:xfrm>
            <a:off x="4617720" y="2281240"/>
            <a:ext cx="7086600" cy="261555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Interface Reference: Enroll Course</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3</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23</a:t>
            </a:r>
          </a:p>
        </p:txBody>
      </p:sp>
      <p:sp>
        <p:nvSpPr>
          <p:cNvPr id="7" name="TextBox 6"/>
          <p:cNvSpPr txBox="1"/>
          <p:nvPr/>
        </p:nvSpPr>
        <p:spPr>
          <a:xfrm>
            <a:off x="658368" y="914400"/>
            <a:ext cx="4572000" cy="411480"/>
          </a:xfrm>
          <a:prstGeom prst="rect">
            <a:avLst/>
          </a:prstGeom>
          <a:noFill/>
        </p:spPr>
        <p:txBody>
          <a:bodyPr wrap="square" lIns="54864" rIns="54864" tIns="54864" bIns="54864" anchor="t">
            <a:spAutoFit/>
          </a:bodyPr>
          <a:lstStyle/>
          <a:p>
            <a:pPr algn="l">
              <a:defRPr sz="2200" b="1">
                <a:solidFill>
                  <a:srgbClr val="162B53"/>
                </a:solidFill>
                <a:latin typeface="Aptos"/>
              </a:defRPr>
            </a:pPr>
            <a:r>
              <a:t>Enrollment Form</a:t>
            </a:r>
          </a:p>
        </p:txBody>
      </p:sp>
      <p:sp>
        <p:nvSpPr>
          <p:cNvPr id="8" name="TextBox 7"/>
          <p:cNvSpPr txBox="1"/>
          <p:nvPr/>
        </p:nvSpPr>
        <p:spPr>
          <a:xfrm>
            <a:off x="658368" y="1417320"/>
            <a:ext cx="3840480" cy="4480560"/>
          </a:xfrm>
          <a:prstGeom prst="rect">
            <a:avLst/>
          </a:prstGeom>
          <a:noFill/>
        </p:spPr>
        <p:txBody>
          <a:bodyPr wrap="square" lIns="137160" tIns="109728" bIns="73152">
            <a:spAutoFit/>
          </a:bodyPr>
          <a:lstStyle/>
          <a:p>
            <a:pPr>
              <a:spcAft>
                <a:spcPts val="1600"/>
              </a:spcAft>
              <a:defRPr sz="1700">
                <a:solidFill>
                  <a:srgbClr val="232D3C"/>
                </a:solidFill>
                <a:latin typeface="Aptos"/>
              </a:defRPr>
            </a:pPr>
            <a:r>
              <a:t>•  Student chooses a course from a dropdown list.</a:t>
            </a:r>
          </a:p>
          <a:p>
            <a:pPr>
              <a:spcAft>
                <a:spcPts val="1600"/>
              </a:spcAft>
              <a:defRPr sz="1700">
                <a:solidFill>
                  <a:srgbClr val="232D3C"/>
                </a:solidFill>
                <a:latin typeface="Aptos"/>
              </a:defRPr>
            </a:pPr>
            <a:r>
              <a:t>•  Enroll Now submits the selected course for processing.</a:t>
            </a:r>
          </a:p>
          <a:p>
            <a:pPr>
              <a:spcAft>
                <a:spcPts val="1600"/>
              </a:spcAft>
              <a:defRPr sz="1700">
                <a:solidFill>
                  <a:srgbClr val="232D3C"/>
                </a:solidFill>
                <a:latin typeface="Aptos"/>
              </a:defRPr>
            </a:pPr>
            <a:r>
              <a:t>•  The system should confirm success or explain validation errors.</a:t>
            </a:r>
          </a:p>
        </p:txBody>
      </p:sp>
      <p:pic>
        <p:nvPicPr>
          <p:cNvPr id="9" name="Picture 8" descr="1000077527.jpg"/>
          <p:cNvPicPr>
            <a:picLocks noChangeAspect="1"/>
          </p:cNvPicPr>
          <p:nvPr/>
        </p:nvPicPr>
        <p:blipFill>
          <a:blip r:embed="rId2"/>
          <a:stretch>
            <a:fillRect/>
          </a:stretch>
        </p:blipFill>
        <p:spPr>
          <a:xfrm>
            <a:off x="4617720" y="2330651"/>
            <a:ext cx="7086600" cy="251673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Interface Reference: Student Profile</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3</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24</a:t>
            </a:r>
          </a:p>
        </p:txBody>
      </p:sp>
      <p:sp>
        <p:nvSpPr>
          <p:cNvPr id="7" name="TextBox 6"/>
          <p:cNvSpPr txBox="1"/>
          <p:nvPr/>
        </p:nvSpPr>
        <p:spPr>
          <a:xfrm>
            <a:off x="658368" y="914400"/>
            <a:ext cx="4572000" cy="411480"/>
          </a:xfrm>
          <a:prstGeom prst="rect">
            <a:avLst/>
          </a:prstGeom>
          <a:noFill/>
        </p:spPr>
        <p:txBody>
          <a:bodyPr wrap="square" lIns="54864" rIns="54864" tIns="54864" bIns="54864" anchor="t">
            <a:spAutoFit/>
          </a:bodyPr>
          <a:lstStyle/>
          <a:p>
            <a:pPr algn="l">
              <a:defRPr sz="2200" b="1">
                <a:solidFill>
                  <a:srgbClr val="162B53"/>
                </a:solidFill>
                <a:latin typeface="Aptos"/>
              </a:defRPr>
            </a:pPr>
            <a:r>
              <a:t>Student Profile</a:t>
            </a:r>
          </a:p>
        </p:txBody>
      </p:sp>
      <p:sp>
        <p:nvSpPr>
          <p:cNvPr id="8" name="TextBox 7"/>
          <p:cNvSpPr txBox="1"/>
          <p:nvPr/>
        </p:nvSpPr>
        <p:spPr>
          <a:xfrm>
            <a:off x="658368" y="1417320"/>
            <a:ext cx="3840480" cy="4480560"/>
          </a:xfrm>
          <a:prstGeom prst="rect">
            <a:avLst/>
          </a:prstGeom>
          <a:noFill/>
        </p:spPr>
        <p:txBody>
          <a:bodyPr wrap="square" lIns="137160" tIns="109728" bIns="73152">
            <a:spAutoFit/>
          </a:bodyPr>
          <a:lstStyle/>
          <a:p>
            <a:pPr>
              <a:spcAft>
                <a:spcPts val="1600"/>
              </a:spcAft>
              <a:defRPr sz="1700">
                <a:solidFill>
                  <a:srgbClr val="232D3C"/>
                </a:solidFill>
                <a:latin typeface="Aptos"/>
              </a:defRPr>
            </a:pPr>
            <a:r>
              <a:t>•  Profile displays the student's name.</a:t>
            </a:r>
          </a:p>
          <a:p>
            <a:pPr>
              <a:spcAft>
                <a:spcPts val="1600"/>
              </a:spcAft>
              <a:defRPr sz="1700">
                <a:solidFill>
                  <a:srgbClr val="232D3C"/>
                </a:solidFill>
                <a:latin typeface="Aptos"/>
              </a:defRPr>
            </a:pPr>
            <a:r>
              <a:t>•  Academic details include course/program and department.</a:t>
            </a:r>
          </a:p>
          <a:p>
            <a:pPr>
              <a:spcAft>
                <a:spcPts val="1600"/>
              </a:spcAft>
              <a:defRPr sz="1700">
                <a:solidFill>
                  <a:srgbClr val="232D3C"/>
                </a:solidFill>
                <a:latin typeface="Aptos"/>
              </a:defRPr>
            </a:pPr>
            <a:r>
              <a:t>•  Role is shown to clarify the user's access context.</a:t>
            </a:r>
          </a:p>
        </p:txBody>
      </p:sp>
      <p:pic>
        <p:nvPicPr>
          <p:cNvPr id="9" name="Picture 8" descr="1000077530.jpg"/>
          <p:cNvPicPr>
            <a:picLocks noChangeAspect="1"/>
          </p:cNvPicPr>
          <p:nvPr/>
        </p:nvPicPr>
        <p:blipFill>
          <a:blip r:embed="rId2"/>
          <a:stretch>
            <a:fillRect/>
          </a:stretch>
        </p:blipFill>
        <p:spPr>
          <a:xfrm>
            <a:off x="4617720" y="2317931"/>
            <a:ext cx="7086600" cy="254217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Phase 4 — Project Planning</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4</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25</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800">
                <a:solidFill>
                  <a:srgbClr val="232D3C"/>
                </a:solidFill>
                <a:latin typeface="Aptos"/>
              </a:defRPr>
            </a:pPr>
            <a:r>
              <a:t>•  Break the work into eight documented phases and track deliverables in a shared repository.</a:t>
            </a:r>
          </a:p>
          <a:p>
            <a:pPr>
              <a:spcAft>
                <a:spcPts val="1200"/>
              </a:spcAft>
              <a:defRPr sz="1800">
                <a:solidFill>
                  <a:srgbClr val="232D3C"/>
                </a:solidFill>
                <a:latin typeface="Aptos"/>
              </a:defRPr>
            </a:pPr>
            <a:r>
              <a:t>•  Assign module ownership while keeping integration and review responsibilities shared.</a:t>
            </a:r>
          </a:p>
          <a:p>
            <a:pPr>
              <a:spcAft>
                <a:spcPts val="1200"/>
              </a:spcAft>
              <a:defRPr sz="1800">
                <a:solidFill>
                  <a:srgbClr val="232D3C"/>
                </a:solidFill>
                <a:latin typeface="Aptos"/>
              </a:defRPr>
            </a:pPr>
            <a:r>
              <a:t>•  Plan short iterations: requirements and design first, then core features, testing, documentation, and demo.</a:t>
            </a:r>
          </a:p>
          <a:p>
            <a:pPr>
              <a:spcAft>
                <a:spcPts val="1200"/>
              </a:spcAft>
              <a:defRPr sz="1800">
                <a:solidFill>
                  <a:srgbClr val="232D3C"/>
                </a:solidFill>
                <a:latin typeface="Aptos"/>
              </a:defRPr>
            </a:pPr>
            <a:r>
              <a:t>•  Use issue tracking or a task board to record owner, priority, status, and due date.</a:t>
            </a:r>
          </a:p>
          <a:p>
            <a:pPr>
              <a:spcAft>
                <a:spcPts val="1200"/>
              </a:spcAft>
              <a:defRPr sz="1800">
                <a:solidFill>
                  <a:srgbClr val="232D3C"/>
                </a:solidFill>
                <a:latin typeface="Aptos"/>
              </a:defRPr>
            </a:pPr>
            <a:r>
              <a:t>•  Maintain regular team reviews and keep the repository updated after each milestone.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Work Breakdown Structure</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4</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26</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500">
                <a:solidFill>
                  <a:srgbClr val="232D3C"/>
                </a:solidFill>
                <a:latin typeface="Aptos"/>
              </a:defRPr>
            </a:pPr>
            <a:r>
              <a:t>•  1. Brainstorming &amp; Ideation — problem, target users, concept, initial features.</a:t>
            </a:r>
          </a:p>
          <a:p>
            <a:pPr>
              <a:spcAft>
                <a:spcPts val="1200"/>
              </a:spcAft>
              <a:defRPr sz="1500">
                <a:solidFill>
                  <a:srgbClr val="232D3C"/>
                </a:solidFill>
                <a:latin typeface="Aptos"/>
              </a:defRPr>
            </a:pPr>
            <a:r>
              <a:t>•  2. Requirement Analysis — functional/non-functional requirements, rules, and acceptance criteria.</a:t>
            </a:r>
          </a:p>
          <a:p>
            <a:pPr>
              <a:spcAft>
                <a:spcPts val="1200"/>
              </a:spcAft>
              <a:defRPr sz="1500">
                <a:solidFill>
                  <a:srgbClr val="232D3C"/>
                </a:solidFill>
                <a:latin typeface="Aptos"/>
              </a:defRPr>
            </a:pPr>
            <a:r>
              <a:t>•  3. Project Design — architecture, navigation, UI mockups, and data model.</a:t>
            </a:r>
          </a:p>
          <a:p>
            <a:pPr>
              <a:spcAft>
                <a:spcPts val="1200"/>
              </a:spcAft>
              <a:defRPr sz="1500">
                <a:solidFill>
                  <a:srgbClr val="232D3C"/>
                </a:solidFill>
                <a:latin typeface="Aptos"/>
              </a:defRPr>
            </a:pPr>
            <a:r>
              <a:t>•  4. Project Planning — timeline, responsibilities, risks, and milestones.</a:t>
            </a:r>
          </a:p>
          <a:p>
            <a:pPr>
              <a:spcAft>
                <a:spcPts val="1200"/>
              </a:spcAft>
              <a:defRPr sz="1500">
                <a:solidFill>
                  <a:srgbClr val="232D3C"/>
                </a:solidFill>
                <a:latin typeface="Aptos"/>
              </a:defRPr>
            </a:pPr>
            <a:r>
              <a:t>•  5. Project Development — frontend, backend, database, integration, and seed data.</a:t>
            </a:r>
          </a:p>
          <a:p>
            <a:pPr>
              <a:spcAft>
                <a:spcPts val="1200"/>
              </a:spcAft>
              <a:defRPr sz="1500">
                <a:solidFill>
                  <a:srgbClr val="232D3C"/>
                </a:solidFill>
                <a:latin typeface="Aptos"/>
              </a:defRPr>
            </a:pPr>
            <a:r>
              <a:t>•  6. Project Testing — test cases, execution, defect fixes, and regression.</a:t>
            </a:r>
          </a:p>
          <a:p>
            <a:pPr>
              <a:spcAft>
                <a:spcPts val="1200"/>
              </a:spcAft>
              <a:defRPr sz="1500">
                <a:solidFill>
                  <a:srgbClr val="232D3C"/>
                </a:solidFill>
                <a:latin typeface="Aptos"/>
              </a:defRPr>
            </a:pPr>
            <a:r>
              <a:t>•  7. Project Documentation — report, setup instructions, screenshots, and user guide.</a:t>
            </a:r>
          </a:p>
          <a:p>
            <a:pPr>
              <a:spcAft>
                <a:spcPts val="1200"/>
              </a:spcAft>
              <a:defRPr sz="1500">
                <a:solidFill>
                  <a:srgbClr val="232D3C"/>
                </a:solidFill>
                <a:latin typeface="Aptos"/>
              </a:defRPr>
            </a:pPr>
            <a:r>
              <a:t>•  8. Project Demonstration — prepared walkthrough, voice-over, final output, and public links.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Team Structure &amp; Responsibilities</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4</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27</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600">
                <a:solidFill>
                  <a:srgbClr val="232D3C"/>
                </a:solidFill>
                <a:latin typeface="Aptos"/>
              </a:defRPr>
            </a:pPr>
            <a:r>
              <a:t>•  Team Leader — S. PRIYADHARSHINI: coordinate tasks, monitor progress, integrate modules, and lead the final demonstration.</a:t>
            </a:r>
          </a:p>
          <a:p>
            <a:pPr>
              <a:spcAft>
                <a:spcPts val="1200"/>
              </a:spcAft>
              <a:defRPr sz="1600">
                <a:solidFill>
                  <a:srgbClr val="232D3C"/>
                </a:solidFill>
                <a:latin typeface="Aptos"/>
              </a:defRPr>
            </a:pPr>
            <a:r>
              <a:t>•  Team Member 1 — Nethra S: support requirements, UI implementation, and testing activities.</a:t>
            </a:r>
          </a:p>
          <a:p>
            <a:pPr>
              <a:spcAft>
                <a:spcPts val="1200"/>
              </a:spcAft>
              <a:defRPr sz="1600">
                <a:solidFill>
                  <a:srgbClr val="232D3C"/>
                </a:solidFill>
                <a:latin typeface="Aptos"/>
              </a:defRPr>
            </a:pPr>
            <a:r>
              <a:t>•  Team Member 2 — Nadhiya P: support data design, enrollment workflow, and integration.</a:t>
            </a:r>
          </a:p>
          <a:p>
            <a:pPr>
              <a:spcAft>
                <a:spcPts val="1200"/>
              </a:spcAft>
              <a:defRPr sz="1600">
                <a:solidFill>
                  <a:srgbClr val="232D3C"/>
                </a:solidFill>
                <a:latin typeface="Aptos"/>
              </a:defRPr>
            </a:pPr>
            <a:r>
              <a:t>•  Team Member 3 — Rajalakshmi R: support course catalogue, interface development, and documentation.</a:t>
            </a:r>
          </a:p>
          <a:p>
            <a:pPr>
              <a:spcAft>
                <a:spcPts val="1200"/>
              </a:spcAft>
              <a:defRPr sz="1600">
                <a:solidFill>
                  <a:srgbClr val="232D3C"/>
                </a:solidFill>
                <a:latin typeface="Aptos"/>
              </a:defRPr>
            </a:pPr>
            <a:r>
              <a:t>•  Team Member 4 — M Thatchana: support profile/dashboard features, validation, and testing.</a:t>
            </a:r>
          </a:p>
          <a:p>
            <a:pPr>
              <a:spcAft>
                <a:spcPts val="1200"/>
              </a:spcAft>
              <a:defRPr sz="1600">
                <a:solidFill>
                  <a:srgbClr val="232D3C"/>
                </a:solidFill>
                <a:latin typeface="Aptos"/>
              </a:defRPr>
            </a:pPr>
            <a:r>
              <a:t>•  These are suggested responsibility areas; adjust them to reflect the work actually completed by each member.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Milestone Plan</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4</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28</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700">
                <a:solidFill>
                  <a:srgbClr val="232D3C"/>
                </a:solidFill>
                <a:latin typeface="Aptos"/>
              </a:defRPr>
            </a:pPr>
            <a:r>
              <a:t>•  Milestone 1: Project concept and scope approved.</a:t>
            </a:r>
          </a:p>
          <a:p>
            <a:pPr>
              <a:spcAft>
                <a:spcPts val="1200"/>
              </a:spcAft>
              <a:defRPr sz="1700">
                <a:solidFill>
                  <a:srgbClr val="232D3C"/>
                </a:solidFill>
                <a:latin typeface="Aptos"/>
              </a:defRPr>
            </a:pPr>
            <a:r>
              <a:t>•  Milestone 2: Requirements and acceptance criteria reviewed.</a:t>
            </a:r>
          </a:p>
          <a:p>
            <a:pPr>
              <a:spcAft>
                <a:spcPts val="1200"/>
              </a:spcAft>
              <a:defRPr sz="1700">
                <a:solidFill>
                  <a:srgbClr val="232D3C"/>
                </a:solidFill>
                <a:latin typeface="Aptos"/>
              </a:defRPr>
            </a:pPr>
            <a:r>
              <a:t>•  Milestone 3: UI, architecture, and database design completed.</a:t>
            </a:r>
          </a:p>
          <a:p>
            <a:pPr>
              <a:spcAft>
                <a:spcPts val="1200"/>
              </a:spcAft>
              <a:defRPr sz="1700">
                <a:solidFill>
                  <a:srgbClr val="232D3C"/>
                </a:solidFill>
                <a:latin typeface="Aptos"/>
              </a:defRPr>
            </a:pPr>
            <a:r>
              <a:t>•  Milestone 4: Login, dashboard, course list, enrollment, and profile integrated.</a:t>
            </a:r>
          </a:p>
          <a:p>
            <a:pPr>
              <a:spcAft>
                <a:spcPts val="1200"/>
              </a:spcAft>
              <a:defRPr sz="1700">
                <a:solidFill>
                  <a:srgbClr val="232D3C"/>
                </a:solidFill>
                <a:latin typeface="Aptos"/>
              </a:defRPr>
            </a:pPr>
            <a:r>
              <a:t>•  Milestone 5: Functional, validation, and usability testing completed.</a:t>
            </a:r>
          </a:p>
          <a:p>
            <a:pPr>
              <a:spcAft>
                <a:spcPts val="1200"/>
              </a:spcAft>
              <a:defRPr sz="1700">
                <a:solidFill>
                  <a:srgbClr val="232D3C"/>
                </a:solidFill>
                <a:latin typeface="Aptos"/>
              </a:defRPr>
            </a:pPr>
            <a:r>
              <a:t>•  Milestone 6: Documentation, repository cleanup, and demo recording completed.</a:t>
            </a:r>
          </a:p>
          <a:p>
            <a:pPr>
              <a:spcAft>
                <a:spcPts val="1200"/>
              </a:spcAft>
              <a:defRPr sz="1700">
                <a:solidFill>
                  <a:srgbClr val="232D3C"/>
                </a:solidFill>
                <a:latin typeface="Aptos"/>
              </a:defRPr>
            </a:pPr>
            <a:r>
              <a:t>•  Record actual dates and completion status in the team's project tracker.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Risk Assessment &amp; Mitigation</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4</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29</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600">
                <a:solidFill>
                  <a:srgbClr val="232D3C"/>
                </a:solidFill>
                <a:latin typeface="Aptos"/>
              </a:defRPr>
            </a:pPr>
            <a:r>
              <a:t>•  Risk: duplicate enrollment records. Mitigation: validate in application logic and enforce a database uniqueness constraint.</a:t>
            </a:r>
          </a:p>
          <a:p>
            <a:pPr>
              <a:spcAft>
                <a:spcPts val="1200"/>
              </a:spcAft>
              <a:defRPr sz="1600">
                <a:solidFill>
                  <a:srgbClr val="232D3C"/>
                </a:solidFill>
                <a:latin typeface="Aptos"/>
              </a:defRPr>
            </a:pPr>
            <a:r>
              <a:t>•  Risk: unauthorized access. Mitigation: secure authentication, role checks, and protected routes.</a:t>
            </a:r>
          </a:p>
          <a:p>
            <a:pPr>
              <a:spcAft>
                <a:spcPts val="1200"/>
              </a:spcAft>
              <a:defRPr sz="1600">
                <a:solidFill>
                  <a:srgbClr val="232D3C"/>
                </a:solidFill>
                <a:latin typeface="Aptos"/>
              </a:defRPr>
            </a:pPr>
            <a:r>
              <a:t>•  Risk: inconsistent dashboard totals. Mitigation: calculate counts from the same source records and test edge cases.</a:t>
            </a:r>
          </a:p>
          <a:p>
            <a:pPr>
              <a:spcAft>
                <a:spcPts val="1200"/>
              </a:spcAft>
              <a:defRPr sz="1600">
                <a:solidFill>
                  <a:srgbClr val="232D3C"/>
                </a:solidFill>
                <a:latin typeface="Aptos"/>
              </a:defRPr>
            </a:pPr>
            <a:r>
              <a:t>•  Risk: integration delays. Mitigation: define interfaces early, use version control, and integrate incrementally.</a:t>
            </a:r>
          </a:p>
          <a:p>
            <a:pPr>
              <a:spcAft>
                <a:spcPts val="1200"/>
              </a:spcAft>
              <a:defRPr sz="1600">
                <a:solidFill>
                  <a:srgbClr val="232D3C"/>
                </a:solidFill>
                <a:latin typeface="Aptos"/>
              </a:defRPr>
            </a:pPr>
            <a:r>
              <a:t>•  Risk: incomplete submission links. Mitigation: verify public GitHub access and Drive permissions before submission.</a:t>
            </a:r>
          </a:p>
          <a:p>
            <a:pPr>
              <a:spcAft>
                <a:spcPts val="1200"/>
              </a:spcAft>
              <a:defRPr sz="1600">
                <a:solidFill>
                  <a:srgbClr val="232D3C"/>
                </a:solidFill>
                <a:latin typeface="Aptos"/>
              </a:defRPr>
            </a:pPr>
            <a:r>
              <a:t>•  Risk: mismatch between report and code. Mitigation: review all claims against the final working application.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Phase 5 — Project Development</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5</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30</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700">
                <a:solidFill>
                  <a:srgbClr val="232D3C"/>
                </a:solidFill>
                <a:latin typeface="Aptos"/>
              </a:defRPr>
            </a:pPr>
            <a:r>
              <a:t>•  Implement the user interface using reusable page layouts and form/table components.</a:t>
            </a:r>
          </a:p>
          <a:p>
            <a:pPr>
              <a:spcAft>
                <a:spcPts val="1200"/>
              </a:spcAft>
              <a:defRPr sz="1700">
                <a:solidFill>
                  <a:srgbClr val="232D3C"/>
                </a:solidFill>
                <a:latin typeface="Aptos"/>
              </a:defRPr>
            </a:pPr>
            <a:r>
              <a:t>•  Implement authentication and session handling according to the selected technology stack.</a:t>
            </a:r>
          </a:p>
          <a:p>
            <a:pPr>
              <a:spcAft>
                <a:spcPts val="1200"/>
              </a:spcAft>
              <a:defRPr sz="1700">
                <a:solidFill>
                  <a:srgbClr val="232D3C"/>
                </a:solidFill>
                <a:latin typeface="Aptos"/>
              </a:defRPr>
            </a:pPr>
            <a:r>
              <a:t>•  Connect course listings to stored course data rather than hard-coded values in the final application.</a:t>
            </a:r>
          </a:p>
          <a:p>
            <a:pPr>
              <a:spcAft>
                <a:spcPts val="1200"/>
              </a:spcAft>
              <a:defRPr sz="1700">
                <a:solidFill>
                  <a:srgbClr val="232D3C"/>
                </a:solidFill>
                <a:latin typeface="Aptos"/>
              </a:defRPr>
            </a:pPr>
            <a:r>
              <a:t>•  Implement enrollment creation with server-side validation and duplicate prevention.</a:t>
            </a:r>
          </a:p>
          <a:p>
            <a:pPr>
              <a:spcAft>
                <a:spcPts val="1200"/>
              </a:spcAft>
              <a:defRPr sz="1700">
                <a:solidFill>
                  <a:srgbClr val="232D3C"/>
                </a:solidFill>
                <a:latin typeface="Aptos"/>
              </a:defRPr>
            </a:pPr>
            <a:r>
              <a:t>•  Populate dashboard metrics from course and enrollment data.</a:t>
            </a:r>
          </a:p>
          <a:p>
            <a:pPr>
              <a:spcAft>
                <a:spcPts val="1200"/>
              </a:spcAft>
              <a:defRPr sz="1700">
                <a:solidFill>
                  <a:srgbClr val="232D3C"/>
                </a:solidFill>
                <a:latin typeface="Aptos"/>
              </a:defRPr>
            </a:pPr>
            <a:r>
              <a:t>•  Integrate profile information and navigation; maintain source control throughout development.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Module Development Breakdown</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5</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31</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700">
                <a:solidFill>
                  <a:srgbClr val="232D3C"/>
                </a:solidFill>
                <a:latin typeface="Aptos"/>
              </a:defRPr>
            </a:pPr>
            <a:r>
              <a:t>•  Authentication module: credential form, credential verification, session lifecycle, and logout.</a:t>
            </a:r>
          </a:p>
          <a:p>
            <a:pPr>
              <a:spcAft>
                <a:spcPts val="1200"/>
              </a:spcAft>
              <a:defRPr sz="1700">
                <a:solidFill>
                  <a:srgbClr val="232D3C"/>
                </a:solidFill>
                <a:latin typeface="Aptos"/>
              </a:defRPr>
            </a:pPr>
            <a:r>
              <a:t>•  Dashboard module: summary cards and quick navigation.</a:t>
            </a:r>
          </a:p>
          <a:p>
            <a:pPr>
              <a:spcAft>
                <a:spcPts val="1200"/>
              </a:spcAft>
              <a:defRPr sz="1700">
                <a:solidFill>
                  <a:srgbClr val="232D3C"/>
                </a:solidFill>
                <a:latin typeface="Aptos"/>
              </a:defRPr>
            </a:pPr>
            <a:r>
              <a:t>•  Course module: course listing, course details, and availability display.</a:t>
            </a:r>
          </a:p>
          <a:p>
            <a:pPr>
              <a:spcAft>
                <a:spcPts val="1200"/>
              </a:spcAft>
              <a:defRPr sz="1700">
                <a:solidFill>
                  <a:srgbClr val="232D3C"/>
                </a:solidFill>
                <a:latin typeface="Aptos"/>
              </a:defRPr>
            </a:pPr>
            <a:r>
              <a:t>•  Enrollment module: course selection, submission, validation, and status display.</a:t>
            </a:r>
          </a:p>
          <a:p>
            <a:pPr>
              <a:spcAft>
                <a:spcPts val="1200"/>
              </a:spcAft>
              <a:defRPr sz="1700">
                <a:solidFill>
                  <a:srgbClr val="232D3C"/>
                </a:solidFill>
                <a:latin typeface="Aptos"/>
              </a:defRPr>
            </a:pPr>
            <a:r>
              <a:t>•  Profile module: student identity and academic details.</a:t>
            </a:r>
          </a:p>
          <a:p>
            <a:pPr>
              <a:spcAft>
                <a:spcPts val="1200"/>
              </a:spcAft>
              <a:defRPr sz="1700">
                <a:solidFill>
                  <a:srgbClr val="232D3C"/>
                </a:solidFill>
                <a:latin typeface="Aptos"/>
              </a:defRPr>
            </a:pPr>
            <a:r>
              <a:t>•  Administration module (if implemented): manage courses, student records, and enrollment oversight.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Enrollment Workflow</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5</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32</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700">
                <a:solidFill>
                  <a:srgbClr val="232D3C"/>
                </a:solidFill>
                <a:latin typeface="Aptos"/>
              </a:defRPr>
            </a:pPr>
            <a:r>
              <a:t>•  Step 1 — Student opens the course catalogue or enrollment page.</a:t>
            </a:r>
          </a:p>
          <a:p>
            <a:pPr>
              <a:spcAft>
                <a:spcPts val="1200"/>
              </a:spcAft>
              <a:defRPr sz="1700">
                <a:solidFill>
                  <a:srgbClr val="232D3C"/>
                </a:solidFill>
                <a:latin typeface="Aptos"/>
              </a:defRPr>
            </a:pPr>
            <a:r>
              <a:t>•  Step 2 — System retrieves courses that are available for enrollment.</a:t>
            </a:r>
          </a:p>
          <a:p>
            <a:pPr>
              <a:spcAft>
                <a:spcPts val="1200"/>
              </a:spcAft>
              <a:defRPr sz="1700">
                <a:solidFill>
                  <a:srgbClr val="232D3C"/>
                </a:solidFill>
                <a:latin typeface="Aptos"/>
              </a:defRPr>
            </a:pPr>
            <a:r>
              <a:t>•  Step 3 — Student selects a course and submits the request.</a:t>
            </a:r>
          </a:p>
          <a:p>
            <a:pPr>
              <a:spcAft>
                <a:spcPts val="1200"/>
              </a:spcAft>
              <a:defRPr sz="1700">
                <a:solidFill>
                  <a:srgbClr val="232D3C"/>
                </a:solidFill>
                <a:latin typeface="Aptos"/>
              </a:defRPr>
            </a:pPr>
            <a:r>
              <a:t>•  Step 4 — System verifies authentication, course validity, and enrollment rules.</a:t>
            </a:r>
          </a:p>
          <a:p>
            <a:pPr>
              <a:spcAft>
                <a:spcPts val="1200"/>
              </a:spcAft>
              <a:defRPr sz="1700">
                <a:solidFill>
                  <a:srgbClr val="232D3C"/>
                </a:solidFill>
                <a:latin typeface="Aptos"/>
              </a:defRPr>
            </a:pPr>
            <a:r>
              <a:t>•  Step 5 — System creates the enrollment record if validation passes.</a:t>
            </a:r>
          </a:p>
          <a:p>
            <a:pPr>
              <a:spcAft>
                <a:spcPts val="1200"/>
              </a:spcAft>
              <a:defRPr sz="1700">
                <a:solidFill>
                  <a:srgbClr val="232D3C"/>
                </a:solidFill>
                <a:latin typeface="Aptos"/>
              </a:defRPr>
            </a:pPr>
            <a:r>
              <a:t>•  Step 6 — UI displays confirmation and refreshes enrollment/dashboard information.</a:t>
            </a:r>
          </a:p>
          <a:p>
            <a:pPr>
              <a:spcAft>
                <a:spcPts val="1200"/>
              </a:spcAft>
              <a:defRPr sz="1700">
                <a:solidFill>
                  <a:srgbClr val="232D3C"/>
                </a:solidFill>
                <a:latin typeface="Aptos"/>
              </a:defRPr>
            </a:pPr>
            <a:r>
              <a:t>•  Failure path: show a clear message and do not create a partial or duplicate record.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Data Integrity &amp; Security</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5</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33</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700">
                <a:solidFill>
                  <a:srgbClr val="232D3C"/>
                </a:solidFill>
                <a:latin typeface="Aptos"/>
              </a:defRPr>
            </a:pPr>
            <a:r>
              <a:t>•  Store passwords as secure hashes; never store plaintext passwords.</a:t>
            </a:r>
          </a:p>
          <a:p>
            <a:pPr>
              <a:spcAft>
                <a:spcPts val="1200"/>
              </a:spcAft>
              <a:defRPr sz="1700">
                <a:solidFill>
                  <a:srgbClr val="232D3C"/>
                </a:solidFill>
                <a:latin typeface="Aptos"/>
              </a:defRPr>
            </a:pPr>
            <a:r>
              <a:t>•  Use parameterized database queries or a safe ORM to reduce injection risk.</a:t>
            </a:r>
          </a:p>
          <a:p>
            <a:pPr>
              <a:spcAft>
                <a:spcPts val="1200"/>
              </a:spcAft>
              <a:defRPr sz="1700">
                <a:solidFill>
                  <a:srgbClr val="232D3C"/>
                </a:solidFill>
                <a:latin typeface="Aptos"/>
              </a:defRPr>
            </a:pPr>
            <a:r>
              <a:t>•  Enforce authorization on the server for every protected action.</a:t>
            </a:r>
          </a:p>
          <a:p>
            <a:pPr>
              <a:spcAft>
                <a:spcPts val="1200"/>
              </a:spcAft>
              <a:defRPr sz="1700">
                <a:solidFill>
                  <a:srgbClr val="232D3C"/>
                </a:solidFill>
                <a:latin typeface="Aptos"/>
              </a:defRPr>
            </a:pPr>
            <a:r>
              <a:t>•  Validate all submitted values on the server, even when client-side validation exists.</a:t>
            </a:r>
          </a:p>
          <a:p>
            <a:pPr>
              <a:spcAft>
                <a:spcPts val="1200"/>
              </a:spcAft>
              <a:defRPr sz="1700">
                <a:solidFill>
                  <a:srgbClr val="232D3C"/>
                </a:solidFill>
                <a:latin typeface="Aptos"/>
              </a:defRPr>
            </a:pPr>
            <a:r>
              <a:t>•  Use database transactions where enrollment operations involve multiple related updates.</a:t>
            </a:r>
          </a:p>
          <a:p>
            <a:pPr>
              <a:spcAft>
                <a:spcPts val="1200"/>
              </a:spcAft>
              <a:defRPr sz="1700">
                <a:solidFill>
                  <a:srgbClr val="232D3C"/>
                </a:solidFill>
                <a:latin typeface="Aptos"/>
              </a:defRPr>
            </a:pPr>
            <a:r>
              <a:t>•  Protect student data, limit unnecessary exposure, and keep credentials out of source control.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Phase 6 — Project Testing</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6</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34</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800">
                <a:solidFill>
                  <a:srgbClr val="232D3C"/>
                </a:solidFill>
                <a:latin typeface="Aptos"/>
              </a:defRPr>
            </a:pPr>
            <a:r>
              <a:t>•  Testing verifies that features meet the requirements and that common failure cases are handled safely.</a:t>
            </a:r>
          </a:p>
          <a:p>
            <a:pPr>
              <a:spcAft>
                <a:spcPts val="1200"/>
              </a:spcAft>
              <a:defRPr sz="1800">
                <a:solidFill>
                  <a:srgbClr val="232D3C"/>
                </a:solidFill>
                <a:latin typeface="Aptos"/>
              </a:defRPr>
            </a:pPr>
            <a:r>
              <a:t>•  Prepare test cases for login, navigation, course display, enrollment, profile, and dashboard metrics.</a:t>
            </a:r>
          </a:p>
          <a:p>
            <a:pPr>
              <a:spcAft>
                <a:spcPts val="1200"/>
              </a:spcAft>
              <a:defRPr sz="1800">
                <a:solidFill>
                  <a:srgbClr val="232D3C"/>
                </a:solidFill>
                <a:latin typeface="Aptos"/>
              </a:defRPr>
            </a:pPr>
            <a:r>
              <a:t>•  Test both valid and invalid inputs, including empty fields and repeated enrollment attempts.</a:t>
            </a:r>
          </a:p>
          <a:p>
            <a:pPr>
              <a:spcAft>
                <a:spcPts val="1200"/>
              </a:spcAft>
              <a:defRPr sz="1800">
                <a:solidFill>
                  <a:srgbClr val="232D3C"/>
                </a:solidFill>
                <a:latin typeface="Aptos"/>
              </a:defRPr>
            </a:pPr>
            <a:r>
              <a:t>•  Run regression tests after fixes and before the final demonstration.</a:t>
            </a:r>
          </a:p>
          <a:p>
            <a:pPr>
              <a:spcAft>
                <a:spcPts val="1200"/>
              </a:spcAft>
              <a:defRPr sz="1800">
                <a:solidFill>
                  <a:srgbClr val="232D3C"/>
                </a:solidFill>
                <a:latin typeface="Aptos"/>
              </a:defRPr>
            </a:pPr>
            <a:r>
              <a:t>•  Record test ID, preconditions, steps, expected result, actual result, status, and defect reference.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Sample Test Cases</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6</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35</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600">
                <a:solidFill>
                  <a:srgbClr val="232D3C"/>
                </a:solidFill>
                <a:latin typeface="Aptos"/>
              </a:defRPr>
            </a:pPr>
            <a:r>
              <a:t>•  TC-01 Login with valid credentials → user reaches the appropriate dashboard.</a:t>
            </a:r>
          </a:p>
          <a:p>
            <a:pPr>
              <a:spcAft>
                <a:spcPts val="1200"/>
              </a:spcAft>
              <a:defRPr sz="1600">
                <a:solidFill>
                  <a:srgbClr val="232D3C"/>
                </a:solidFill>
                <a:latin typeface="Aptos"/>
              </a:defRPr>
            </a:pPr>
            <a:r>
              <a:t>•  TC-02 Login with incorrect password → access is denied with a clear message.</a:t>
            </a:r>
          </a:p>
          <a:p>
            <a:pPr>
              <a:spcAft>
                <a:spcPts val="1200"/>
              </a:spcAft>
              <a:defRPr sz="1600">
                <a:solidFill>
                  <a:srgbClr val="232D3C"/>
                </a:solidFill>
                <a:latin typeface="Aptos"/>
              </a:defRPr>
            </a:pPr>
            <a:r>
              <a:t>•  TC-03 Open course list → course ID, name, department, and credits are visible.</a:t>
            </a:r>
          </a:p>
          <a:p>
            <a:pPr>
              <a:spcAft>
                <a:spcPts val="1200"/>
              </a:spcAft>
              <a:defRPr sz="1600">
                <a:solidFill>
                  <a:srgbClr val="232D3C"/>
                </a:solidFill>
                <a:latin typeface="Aptos"/>
              </a:defRPr>
            </a:pPr>
            <a:r>
              <a:t>•  TC-04 Enroll in a valid course → enrollment is recorded and confirmation is shown.</a:t>
            </a:r>
          </a:p>
          <a:p>
            <a:pPr>
              <a:spcAft>
                <a:spcPts val="1200"/>
              </a:spcAft>
              <a:defRPr sz="1600">
                <a:solidFill>
                  <a:srgbClr val="232D3C"/>
                </a:solidFill>
                <a:latin typeface="Aptos"/>
              </a:defRPr>
            </a:pPr>
            <a:r>
              <a:t>•  TC-05 Enroll in the same course again → duplicate request is prevented.</a:t>
            </a:r>
          </a:p>
          <a:p>
            <a:pPr>
              <a:spcAft>
                <a:spcPts val="1200"/>
              </a:spcAft>
              <a:defRPr sz="1600">
                <a:solidFill>
                  <a:srgbClr val="232D3C"/>
                </a:solidFill>
                <a:latin typeface="Aptos"/>
              </a:defRPr>
            </a:pPr>
            <a:r>
              <a:t>•  TC-06 Open profile → displayed identity and academic fields match the student record.</a:t>
            </a:r>
          </a:p>
          <a:p>
            <a:pPr>
              <a:spcAft>
                <a:spcPts val="1200"/>
              </a:spcAft>
              <a:defRPr sz="1600">
                <a:solidFill>
                  <a:srgbClr val="232D3C"/>
                </a:solidFill>
                <a:latin typeface="Aptos"/>
              </a:defRPr>
            </a:pPr>
            <a:r>
              <a:t>•  TC-07 Logout → session ends and protected pages require authentication.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Testing Results &amp; Acceptance Criteria</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6</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36</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700">
                <a:solidFill>
                  <a:srgbClr val="232D3C"/>
                </a:solidFill>
                <a:latin typeface="Aptos"/>
              </a:defRPr>
            </a:pPr>
            <a:r>
              <a:t>•  Acceptance criteria: all core user journeys can be completed without unexpected errors.</a:t>
            </a:r>
          </a:p>
          <a:p>
            <a:pPr>
              <a:spcAft>
                <a:spcPts val="1200"/>
              </a:spcAft>
              <a:defRPr sz="1700">
                <a:solidFill>
                  <a:srgbClr val="232D3C"/>
                </a:solidFill>
                <a:latin typeface="Aptos"/>
              </a:defRPr>
            </a:pPr>
            <a:r>
              <a:t>•  Course records display correct identifiers, names, departments, and credit values.</a:t>
            </a:r>
          </a:p>
          <a:p>
            <a:pPr>
              <a:spcAft>
                <a:spcPts val="1200"/>
              </a:spcAft>
              <a:defRPr sz="1700">
                <a:solidFill>
                  <a:srgbClr val="232D3C"/>
                </a:solidFill>
                <a:latin typeface="Aptos"/>
              </a:defRPr>
            </a:pPr>
            <a:r>
              <a:t>•  Enrollment requests are validated and duplicate enrollments are blocked.</a:t>
            </a:r>
          </a:p>
          <a:p>
            <a:pPr>
              <a:spcAft>
                <a:spcPts val="1200"/>
              </a:spcAft>
              <a:defRPr sz="1700">
                <a:solidFill>
                  <a:srgbClr val="232D3C"/>
                </a:solidFill>
                <a:latin typeface="Aptos"/>
              </a:defRPr>
            </a:pPr>
            <a:r>
              <a:t>•  Dashboard counts correspond to the underlying course and enrollment records.</a:t>
            </a:r>
          </a:p>
          <a:p>
            <a:pPr>
              <a:spcAft>
                <a:spcPts val="1200"/>
              </a:spcAft>
              <a:defRPr sz="1700">
                <a:solidFill>
                  <a:srgbClr val="232D3C"/>
                </a:solidFill>
                <a:latin typeface="Aptos"/>
              </a:defRPr>
            </a:pPr>
            <a:r>
              <a:t>•  Protected pages require an authenticated user and role permissions are enforced.</a:t>
            </a:r>
          </a:p>
          <a:p>
            <a:pPr>
              <a:spcAft>
                <a:spcPts val="1200"/>
              </a:spcAft>
              <a:defRPr sz="1700">
                <a:solidFill>
                  <a:srgbClr val="232D3C"/>
                </a:solidFill>
                <a:latin typeface="Aptos"/>
              </a:defRPr>
            </a:pPr>
            <a:r>
              <a:t>•  Enter actual test outcomes in the final report; do not mark tests as passed until they have been executed.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Phase 7 — Project Documentation</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7</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37</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700">
                <a:solidFill>
                  <a:srgbClr val="232D3C"/>
                </a:solidFill>
                <a:latin typeface="Aptos"/>
              </a:defRPr>
            </a:pPr>
            <a:r>
              <a:t>•  Maintain a README with project purpose, features, prerequisites, installation, configuration, and run instructions.</a:t>
            </a:r>
          </a:p>
          <a:p>
            <a:pPr>
              <a:spcAft>
                <a:spcPts val="1200"/>
              </a:spcAft>
              <a:defRPr sz="1700">
                <a:solidFill>
                  <a:srgbClr val="232D3C"/>
                </a:solidFill>
                <a:latin typeface="Aptos"/>
              </a:defRPr>
            </a:pPr>
            <a:r>
              <a:t>•  Document database schema, environment variables, sample data, and any migration or setup steps.</a:t>
            </a:r>
          </a:p>
          <a:p>
            <a:pPr>
              <a:spcAft>
                <a:spcPts val="1200"/>
              </a:spcAft>
              <a:defRPr sz="1700">
                <a:solidFill>
                  <a:srgbClr val="232D3C"/>
                </a:solidFill>
                <a:latin typeface="Aptos"/>
              </a:defRPr>
            </a:pPr>
            <a:r>
              <a:t>•  Include screenshots of the major screens and explain the user workflow.</a:t>
            </a:r>
          </a:p>
          <a:p>
            <a:pPr>
              <a:spcAft>
                <a:spcPts val="1200"/>
              </a:spcAft>
              <a:defRPr sz="1700">
                <a:solidFill>
                  <a:srgbClr val="232D3C"/>
                </a:solidFill>
                <a:latin typeface="Aptos"/>
              </a:defRPr>
            </a:pPr>
            <a:r>
              <a:t>•  Keep the report, source code, test cases, and demonstration consistent with the final implementation.</a:t>
            </a:r>
          </a:p>
          <a:p>
            <a:pPr>
              <a:spcAft>
                <a:spcPts val="1200"/>
              </a:spcAft>
              <a:defRPr sz="1700">
                <a:solidFill>
                  <a:srgbClr val="232D3C"/>
                </a:solidFill>
                <a:latin typeface="Aptos"/>
              </a:defRPr>
            </a:pPr>
            <a:r>
              <a:t>•  Organize the public repository into clear folders for source, documentation, screenshots, and testing artifacts.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Phase 8 — Project Demonstration &amp; Submission</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PHASE 8</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38</a:t>
            </a:r>
          </a:p>
        </p:txBody>
      </p:sp>
      <p:sp>
        <p:nvSpPr>
          <p:cNvPr id="7" name="TextBox 6"/>
          <p:cNvSpPr txBox="1"/>
          <p:nvPr/>
        </p:nvSpPr>
        <p:spPr>
          <a:xfrm>
            <a:off x="685800" y="1143000"/>
            <a:ext cx="10881360" cy="5074920"/>
          </a:xfrm>
          <a:prstGeom prst="rect">
            <a:avLst/>
          </a:prstGeom>
          <a:noFill/>
        </p:spPr>
        <p:txBody>
          <a:bodyPr wrap="square" lIns="137160" tIns="109728" bIns="73152">
            <a:spAutoFit/>
          </a:bodyPr>
          <a:lstStyle/>
          <a:p>
            <a:pPr>
              <a:spcAft>
                <a:spcPts val="1200"/>
              </a:spcAft>
              <a:defRPr sz="1700">
                <a:solidFill>
                  <a:srgbClr val="232D3C"/>
                </a:solidFill>
                <a:latin typeface="Aptos"/>
              </a:defRPr>
            </a:pPr>
            <a:r>
              <a:t>•  Record a complete screen-share demonstration with a clear voice-over.</a:t>
            </a:r>
          </a:p>
          <a:p>
            <a:pPr>
              <a:spcAft>
                <a:spcPts val="1200"/>
              </a:spcAft>
              <a:defRPr sz="1700">
                <a:solidFill>
                  <a:srgbClr val="232D3C"/>
                </a:solidFill>
                <a:latin typeface="Aptos"/>
              </a:defRPr>
            </a:pPr>
            <a:r>
              <a:t>•  Introduce the project name, purpose, intended users, and benefits.</a:t>
            </a:r>
          </a:p>
          <a:p>
            <a:pPr>
              <a:spcAft>
                <a:spcPts val="1200"/>
              </a:spcAft>
              <a:defRPr sz="1700">
                <a:solidFill>
                  <a:srgbClr val="232D3C"/>
                </a:solidFill>
                <a:latin typeface="Aptos"/>
              </a:defRPr>
            </a:pPr>
            <a:r>
              <a:t>•  Demonstrate login, dashboard, course browsing, enrollment, My Enrollments, and profile.</a:t>
            </a:r>
          </a:p>
          <a:p>
            <a:pPr>
              <a:spcAft>
                <a:spcPts val="1200"/>
              </a:spcAft>
              <a:defRPr sz="1700">
                <a:solidFill>
                  <a:srgbClr val="232D3C"/>
                </a:solidFill>
                <a:latin typeface="Aptos"/>
              </a:defRPr>
            </a:pPr>
            <a:r>
              <a:t>•  Show the final output and explain the main workflow, validations, and key features.</a:t>
            </a:r>
          </a:p>
          <a:p>
            <a:pPr>
              <a:spcAft>
                <a:spcPts val="1200"/>
              </a:spcAft>
              <a:defRPr sz="1700">
                <a:solidFill>
                  <a:srgbClr val="232D3C"/>
                </a:solidFill>
                <a:latin typeface="Aptos"/>
              </a:defRPr>
            </a:pPr>
            <a:r>
              <a:t>•  Upload the video to Google Drive and set access to Anyone with the link can view.</a:t>
            </a:r>
          </a:p>
          <a:p>
            <a:pPr>
              <a:spcAft>
                <a:spcPts val="1200"/>
              </a:spcAft>
              <a:defRPr sz="1700">
                <a:solidFill>
                  <a:srgbClr val="232D3C"/>
                </a:solidFill>
                <a:latin typeface="Aptos"/>
              </a:defRPr>
            </a:pPr>
            <a:r>
              <a:t>•  Submit a public GitHub repository containing all files organized by the eight project phases.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2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961120" cy="411480"/>
          </a:xfrm>
          <a:prstGeom prst="rect">
            <a:avLst/>
          </a:prstGeom>
          <a:noFill/>
        </p:spPr>
        <p:txBody>
          <a:bodyPr wrap="square" lIns="54864" rIns="54864" tIns="54864" bIns="54864" anchor="ctr">
            <a:spAutoFit/>
          </a:bodyPr>
          <a:lstStyle/>
          <a:p>
            <a:pPr algn="l">
              <a:defRPr sz="2500" b="1">
                <a:solidFill>
                  <a:srgbClr val="FFFFFF"/>
                </a:solidFill>
                <a:latin typeface="Aptos"/>
              </a:defRPr>
            </a:pPr>
            <a:r>
              <a:t>Project Team &amp; Conclusion</a:t>
            </a:r>
          </a:p>
        </p:txBody>
      </p:sp>
      <p:sp>
        <p:nvSpPr>
          <p:cNvPr id="4" name="TextBox 3"/>
          <p:cNvSpPr txBox="1"/>
          <p:nvPr/>
        </p:nvSpPr>
        <p:spPr>
          <a:xfrm>
            <a:off x="9281160" y="164592"/>
            <a:ext cx="2423160" cy="256032"/>
          </a:xfrm>
          <a:prstGeom prst="rect">
            <a:avLst/>
          </a:prstGeom>
          <a:noFill/>
        </p:spPr>
        <p:txBody>
          <a:bodyPr wrap="square" lIns="54864" rIns="54864" tIns="54864" bIns="54864" anchor="ctr">
            <a:spAutoFit/>
          </a:bodyPr>
          <a:lstStyle/>
          <a:p>
            <a:pPr algn="r">
              <a:defRPr sz="1000" b="1">
                <a:solidFill>
                  <a:srgbClr val="CDDCF5"/>
                </a:solidFill>
                <a:latin typeface="Aptos"/>
              </a:defRPr>
            </a:pPr>
            <a:r>
              <a:t>CONCLUSION</a:t>
            </a:r>
          </a:p>
        </p:txBody>
      </p:sp>
      <p:sp>
        <p:nvSpPr>
          <p:cNvPr id="5" name="TextBox 4"/>
          <p:cNvSpPr txBox="1"/>
          <p:nvPr/>
        </p:nvSpPr>
        <p:spPr>
          <a:xfrm>
            <a:off x="502920" y="6547104"/>
            <a:ext cx="8686800" cy="182880"/>
          </a:xfrm>
          <a:prstGeom prst="rect">
            <a:avLst/>
          </a:prstGeom>
          <a:noFill/>
        </p:spPr>
        <p:txBody>
          <a:bodyPr wrap="square" lIns="54864" rIns="54864" tIns="54864" bIns="54864" anchor="ctr">
            <a:spAutoFit/>
          </a:bodyPr>
          <a:lstStyle/>
          <a:p>
            <a:pPr algn="l">
              <a:defRPr sz="800" b="1">
                <a:solidFill>
                  <a:srgbClr val="5F6C7D"/>
                </a:solidFill>
                <a:latin typeface="Aptos"/>
              </a:defRPr>
            </a:pPr>
            <a:r>
              <a:t>STUDENT ENROLLMENT &amp; COURSE MANAGEMENT SYSTEM</a:t>
            </a:r>
          </a:p>
        </p:txBody>
      </p:sp>
      <p:sp>
        <p:nvSpPr>
          <p:cNvPr id="6" name="TextBox 5"/>
          <p:cNvSpPr txBox="1"/>
          <p:nvPr/>
        </p:nvSpPr>
        <p:spPr>
          <a:xfrm>
            <a:off x="11109960" y="6510528"/>
            <a:ext cx="548640" cy="228600"/>
          </a:xfrm>
          <a:prstGeom prst="rect">
            <a:avLst/>
          </a:prstGeom>
          <a:noFill/>
        </p:spPr>
        <p:txBody>
          <a:bodyPr wrap="square" lIns="54864" rIns="54864" tIns="54864" bIns="54864" anchor="ctr">
            <a:spAutoFit/>
          </a:bodyPr>
          <a:lstStyle/>
          <a:p>
            <a:pPr algn="r">
              <a:defRPr sz="900" b="1">
                <a:solidFill>
                  <a:srgbClr val="5F6C7D"/>
                </a:solidFill>
                <a:latin typeface="Aptos"/>
              </a:defRPr>
            </a:pPr>
            <a:r>
              <a:t>39</a:t>
            </a:r>
          </a:p>
        </p:txBody>
      </p:sp>
      <p:sp>
        <p:nvSpPr>
          <p:cNvPr id="7" name="TextBox 6"/>
          <p:cNvSpPr txBox="1"/>
          <p:nvPr/>
        </p:nvSpPr>
        <p:spPr>
          <a:xfrm>
            <a:off x="658368" y="932688"/>
            <a:ext cx="4937760" cy="320040"/>
          </a:xfrm>
          <a:prstGeom prst="rect">
            <a:avLst/>
          </a:prstGeom>
          <a:noFill/>
        </p:spPr>
        <p:txBody>
          <a:bodyPr wrap="square" lIns="54864" rIns="54864" tIns="54864" bIns="54864" anchor="t">
            <a:spAutoFit/>
          </a:bodyPr>
          <a:lstStyle/>
          <a:p>
            <a:pPr algn="l">
              <a:defRPr sz="1700" b="1">
                <a:solidFill>
                  <a:srgbClr val="2A61C6"/>
                </a:solidFill>
                <a:latin typeface="Aptos"/>
              </a:defRPr>
            </a:pPr>
            <a:r>
              <a:t>PROJECT TEAM</a:t>
            </a:r>
          </a:p>
        </p:txBody>
      </p:sp>
      <p:sp>
        <p:nvSpPr>
          <p:cNvPr id="8" name="TextBox 7"/>
          <p:cNvSpPr txBox="1"/>
          <p:nvPr/>
        </p:nvSpPr>
        <p:spPr>
          <a:xfrm>
            <a:off x="713232" y="1353312"/>
            <a:ext cx="4389120" cy="246888"/>
          </a:xfrm>
          <a:prstGeom prst="rect">
            <a:avLst/>
          </a:prstGeom>
          <a:noFill/>
        </p:spPr>
        <p:txBody>
          <a:bodyPr wrap="square" lIns="54864" rIns="54864" tIns="54864" bIns="54864" anchor="t">
            <a:spAutoFit/>
          </a:bodyPr>
          <a:lstStyle/>
          <a:p>
            <a:pPr>
              <a:defRPr sz="1300" b="1">
                <a:solidFill>
                  <a:srgbClr val="162B53"/>
                </a:solidFill>
              </a:defRPr>
            </a:pPr>
            <a:r>
              <a:t>Team Leader — S. PRIYADHARSHINI</a:t>
            </a:r>
          </a:p>
        </p:txBody>
      </p:sp>
      <p:sp>
        <p:nvSpPr>
          <p:cNvPr id="9" name="TextBox 8"/>
          <p:cNvSpPr txBox="1"/>
          <p:nvPr/>
        </p:nvSpPr>
        <p:spPr>
          <a:xfrm>
            <a:off x="713232" y="1600200"/>
            <a:ext cx="4572000" cy="429768"/>
          </a:xfrm>
          <a:prstGeom prst="rect">
            <a:avLst/>
          </a:prstGeom>
          <a:noFill/>
        </p:spPr>
        <p:txBody>
          <a:bodyPr wrap="square" lIns="54864" rIns="36576" tIns="9144" bIns="9144" anchor="t">
            <a:spAutoFit/>
          </a:bodyPr>
          <a:lstStyle/>
          <a:p>
            <a:pPr>
              <a:defRPr sz="750">
                <a:solidFill>
                  <a:srgbClr val="5F6C7D"/>
                </a:solidFill>
              </a:defRPr>
            </a:pPr>
            <a:r>
              <a:t>Reg. No.: 36424U28033 | NMID: 11f58038c37762c947743c0c36491528@nm2026.in</a:t>
            </a:r>
          </a:p>
          <a:p>
            <a:pPr>
              <a:defRPr sz="750">
                <a:solidFill>
                  <a:srgbClr val="5F6C7D"/>
                </a:solidFill>
              </a:defRPr>
            </a:pPr>
            <a:r>
              <a:t>Email: spriyadhrshini150604@gmail.com</a:t>
            </a:r>
          </a:p>
        </p:txBody>
      </p:sp>
      <p:sp>
        <p:nvSpPr>
          <p:cNvPr id="10" name="TextBox 9"/>
          <p:cNvSpPr txBox="1"/>
          <p:nvPr/>
        </p:nvSpPr>
        <p:spPr>
          <a:xfrm>
            <a:off x="713232" y="1911095"/>
            <a:ext cx="4389120" cy="246888"/>
          </a:xfrm>
          <a:prstGeom prst="rect">
            <a:avLst/>
          </a:prstGeom>
          <a:noFill/>
        </p:spPr>
        <p:txBody>
          <a:bodyPr wrap="square" lIns="54864" rIns="54864" tIns="54864" bIns="54864" anchor="t">
            <a:spAutoFit/>
          </a:bodyPr>
          <a:lstStyle/>
          <a:p>
            <a:pPr>
              <a:defRPr sz="1300" b="1">
                <a:solidFill>
                  <a:srgbClr val="162B53"/>
                </a:solidFill>
              </a:defRPr>
            </a:pPr>
            <a:r>
              <a:t>Member 1 — Nethra S</a:t>
            </a:r>
          </a:p>
        </p:txBody>
      </p:sp>
      <p:sp>
        <p:nvSpPr>
          <p:cNvPr id="11" name="TextBox 10"/>
          <p:cNvSpPr txBox="1"/>
          <p:nvPr/>
        </p:nvSpPr>
        <p:spPr>
          <a:xfrm>
            <a:off x="713232" y="2157984"/>
            <a:ext cx="4572000" cy="429768"/>
          </a:xfrm>
          <a:prstGeom prst="rect">
            <a:avLst/>
          </a:prstGeom>
          <a:noFill/>
        </p:spPr>
        <p:txBody>
          <a:bodyPr wrap="square" lIns="54864" rIns="36576" tIns="9144" bIns="9144" anchor="t">
            <a:spAutoFit/>
          </a:bodyPr>
          <a:lstStyle/>
          <a:p>
            <a:pPr>
              <a:defRPr sz="750">
                <a:solidFill>
                  <a:srgbClr val="5F6C7D"/>
                </a:solidFill>
              </a:defRPr>
            </a:pPr>
            <a:r>
              <a:t>Reg. No.: 36424U18026 | NMID: 1C31731263AC3CDB9A664C43AEF6E181C</a:t>
            </a:r>
          </a:p>
          <a:p>
            <a:pPr>
              <a:defRPr sz="750">
                <a:solidFill>
                  <a:srgbClr val="5F6C7D"/>
                </a:solidFill>
              </a:defRPr>
            </a:pPr>
            <a:r>
              <a:t>Email: nethras2489@gmail.com</a:t>
            </a:r>
          </a:p>
        </p:txBody>
      </p:sp>
      <p:sp>
        <p:nvSpPr>
          <p:cNvPr id="12" name="TextBox 11"/>
          <p:cNvSpPr txBox="1"/>
          <p:nvPr/>
        </p:nvSpPr>
        <p:spPr>
          <a:xfrm>
            <a:off x="713232" y="2468880"/>
            <a:ext cx="4389120" cy="246888"/>
          </a:xfrm>
          <a:prstGeom prst="rect">
            <a:avLst/>
          </a:prstGeom>
          <a:noFill/>
        </p:spPr>
        <p:txBody>
          <a:bodyPr wrap="square" lIns="54864" rIns="54864" tIns="54864" bIns="54864" anchor="t">
            <a:spAutoFit/>
          </a:bodyPr>
          <a:lstStyle/>
          <a:p>
            <a:pPr>
              <a:defRPr sz="1300" b="1">
                <a:solidFill>
                  <a:srgbClr val="162B53"/>
                </a:solidFill>
              </a:defRPr>
            </a:pPr>
            <a:r>
              <a:t>Member 2 — Nadhiya P</a:t>
            </a:r>
          </a:p>
        </p:txBody>
      </p:sp>
      <p:sp>
        <p:nvSpPr>
          <p:cNvPr id="13" name="TextBox 12"/>
          <p:cNvSpPr txBox="1"/>
          <p:nvPr/>
        </p:nvSpPr>
        <p:spPr>
          <a:xfrm>
            <a:off x="713232" y="2715768"/>
            <a:ext cx="4572000" cy="429768"/>
          </a:xfrm>
          <a:prstGeom prst="rect">
            <a:avLst/>
          </a:prstGeom>
          <a:noFill/>
        </p:spPr>
        <p:txBody>
          <a:bodyPr wrap="square" lIns="54864" rIns="36576" tIns="9144" bIns="9144" anchor="t">
            <a:spAutoFit/>
          </a:bodyPr>
          <a:lstStyle/>
          <a:p>
            <a:pPr>
              <a:defRPr sz="750">
                <a:solidFill>
                  <a:srgbClr val="5F6C7D"/>
                </a:solidFill>
              </a:defRPr>
            </a:pPr>
            <a:r>
              <a:t>Reg. No.: 36424U18024 | NMID: 2af7fd3a9958312a69642c993c63278e</a:t>
            </a:r>
          </a:p>
          <a:p>
            <a:pPr>
              <a:defRPr sz="750">
                <a:solidFill>
                  <a:srgbClr val="5F6C7D"/>
                </a:solidFill>
              </a:defRPr>
            </a:pPr>
            <a:r>
              <a:t>Email: 36424u18024@gmail.com</a:t>
            </a:r>
          </a:p>
        </p:txBody>
      </p:sp>
      <p:sp>
        <p:nvSpPr>
          <p:cNvPr id="14" name="TextBox 13"/>
          <p:cNvSpPr txBox="1"/>
          <p:nvPr/>
        </p:nvSpPr>
        <p:spPr>
          <a:xfrm>
            <a:off x="713232" y="3026664"/>
            <a:ext cx="4389120" cy="246888"/>
          </a:xfrm>
          <a:prstGeom prst="rect">
            <a:avLst/>
          </a:prstGeom>
          <a:noFill/>
        </p:spPr>
        <p:txBody>
          <a:bodyPr wrap="square" lIns="54864" rIns="54864" tIns="54864" bIns="54864" anchor="t">
            <a:spAutoFit/>
          </a:bodyPr>
          <a:lstStyle/>
          <a:p>
            <a:pPr>
              <a:defRPr sz="1300" b="1">
                <a:solidFill>
                  <a:srgbClr val="162B53"/>
                </a:solidFill>
              </a:defRPr>
            </a:pPr>
            <a:r>
              <a:t>Member 3 — Rajalakshmi R</a:t>
            </a:r>
          </a:p>
        </p:txBody>
      </p:sp>
      <p:sp>
        <p:nvSpPr>
          <p:cNvPr id="15" name="TextBox 14"/>
          <p:cNvSpPr txBox="1"/>
          <p:nvPr/>
        </p:nvSpPr>
        <p:spPr>
          <a:xfrm>
            <a:off x="713232" y="3273552"/>
            <a:ext cx="4572000" cy="429768"/>
          </a:xfrm>
          <a:prstGeom prst="rect">
            <a:avLst/>
          </a:prstGeom>
          <a:noFill/>
        </p:spPr>
        <p:txBody>
          <a:bodyPr wrap="square" lIns="54864" rIns="36576" tIns="9144" bIns="9144" anchor="t">
            <a:spAutoFit/>
          </a:bodyPr>
          <a:lstStyle/>
          <a:p>
            <a:pPr>
              <a:defRPr sz="750">
                <a:solidFill>
                  <a:srgbClr val="5F6C7D"/>
                </a:solidFill>
              </a:defRPr>
            </a:pPr>
            <a:r>
              <a:t>Reg. No.: 36424U18036 | NMID: EFF9A56FF15672BB16447F250235BEFC</a:t>
            </a:r>
          </a:p>
          <a:p>
            <a:pPr>
              <a:defRPr sz="750">
                <a:solidFill>
                  <a:srgbClr val="5F6C7D"/>
                </a:solidFill>
              </a:defRPr>
            </a:pPr>
            <a:r>
              <a:t>Email: bakiyalakshmi2218@gmail.com</a:t>
            </a:r>
          </a:p>
        </p:txBody>
      </p:sp>
      <p:sp>
        <p:nvSpPr>
          <p:cNvPr id="16" name="TextBox 15"/>
          <p:cNvSpPr txBox="1"/>
          <p:nvPr/>
        </p:nvSpPr>
        <p:spPr>
          <a:xfrm>
            <a:off x="713232" y="3584448"/>
            <a:ext cx="4389120" cy="246888"/>
          </a:xfrm>
          <a:prstGeom prst="rect">
            <a:avLst/>
          </a:prstGeom>
          <a:noFill/>
        </p:spPr>
        <p:txBody>
          <a:bodyPr wrap="square" lIns="54864" rIns="54864" tIns="54864" bIns="54864" anchor="t">
            <a:spAutoFit/>
          </a:bodyPr>
          <a:lstStyle/>
          <a:p>
            <a:pPr>
              <a:defRPr sz="1300" b="1">
                <a:solidFill>
                  <a:srgbClr val="162B53"/>
                </a:solidFill>
              </a:defRPr>
            </a:pPr>
            <a:r>
              <a:t>Member 4 — Dhilipkumar.S</a:t>
            </a:r>
          </a:p>
        </p:txBody>
      </p:sp>
      <p:sp>
        <p:nvSpPr>
          <p:cNvPr id="17" name="TextBox 16"/>
          <p:cNvSpPr txBox="1"/>
          <p:nvPr/>
        </p:nvSpPr>
        <p:spPr>
          <a:xfrm>
            <a:off x="713232" y="3831335"/>
            <a:ext cx="4572000" cy="429768"/>
          </a:xfrm>
          <a:prstGeom prst="rect">
            <a:avLst/>
          </a:prstGeom>
          <a:noFill/>
        </p:spPr>
        <p:txBody>
          <a:bodyPr wrap="square" lIns="54864" rIns="36576" tIns="9144" bIns="9144" anchor="t">
            <a:spAutoFit/>
          </a:bodyPr>
          <a:lstStyle/>
          <a:p>
            <a:pPr>
              <a:defRPr sz="750">
                <a:solidFill>
                  <a:srgbClr val="5F6C7D"/>
                </a:solidFill>
              </a:defRPr>
            </a:pPr>
            <a:r>
              <a:t>Reg. No.: 36424U18000 | NMID: ECD23DA5D1C55D1A5B7480FEBB8A1825</a:t>
            </a:r>
          </a:p>
          <a:p>
            <a:pPr>
              <a:defRPr sz="750">
                <a:solidFill>
                  <a:srgbClr val="5F6C7D"/>
                </a:solidFill>
              </a:defRPr>
            </a:pPr>
            <a:r>
              <a:t>Email: dhilipkumarcs007@gmail.com</a:t>
            </a:r>
          </a:p>
        </p:txBody>
      </p:sp>
      <p:sp>
        <p:nvSpPr>
          <p:cNvPr id="18" name="TextBox 17"/>
          <p:cNvSpPr txBox="1"/>
          <p:nvPr/>
        </p:nvSpPr>
        <p:spPr>
          <a:xfrm>
            <a:off x="5623560" y="932688"/>
            <a:ext cx="5029200" cy="320040"/>
          </a:xfrm>
          <a:prstGeom prst="rect">
            <a:avLst/>
          </a:prstGeom>
          <a:noFill/>
        </p:spPr>
        <p:txBody>
          <a:bodyPr wrap="square" lIns="54864" rIns="54864" tIns="54864" bIns="54864" anchor="t">
            <a:spAutoFit/>
          </a:bodyPr>
          <a:lstStyle/>
          <a:p>
            <a:pPr algn="l">
              <a:defRPr sz="1700" b="1">
                <a:solidFill>
                  <a:srgbClr val="2A61C6"/>
                </a:solidFill>
                <a:latin typeface="Aptos"/>
              </a:defRPr>
            </a:pPr>
            <a:r>
              <a:t>CONCLUSION</a:t>
            </a:r>
          </a:p>
        </p:txBody>
      </p:sp>
      <p:sp>
        <p:nvSpPr>
          <p:cNvPr id="19" name="TextBox 18"/>
          <p:cNvSpPr txBox="1"/>
          <p:nvPr/>
        </p:nvSpPr>
        <p:spPr>
          <a:xfrm>
            <a:off x="5623560" y="1417320"/>
            <a:ext cx="5669280" cy="3017520"/>
          </a:xfrm>
          <a:prstGeom prst="rect">
            <a:avLst/>
          </a:prstGeom>
          <a:noFill/>
        </p:spPr>
        <p:txBody>
          <a:bodyPr wrap="square" lIns="54864" rIns="54864" tIns="54864" bIns="54864" anchor="t">
            <a:spAutoFit/>
          </a:bodyPr>
          <a:lstStyle/>
          <a:p>
            <a:pPr algn="l">
              <a:defRPr sz="1700" b="0">
                <a:solidFill>
                  <a:srgbClr val="232D3C"/>
                </a:solidFill>
                <a:latin typeface="Aptos"/>
              </a:defRPr>
            </a:pPr>
            <a:r>
              <a:t>The Student Enrollment and Course Management System brings core course discovery and student enrollment activities into one interface. The documented design emphasizes clear navigation, reliable enrollment handling, accurate course information, and student profile access. With thorough testing, secure implementation, and clear documentation, the system can support a more organized course registration experience.</a:t>
            </a:r>
          </a:p>
        </p:txBody>
      </p:sp>
      <p:sp>
        <p:nvSpPr>
          <p:cNvPr id="20" name="TextBox 19"/>
          <p:cNvSpPr txBox="1"/>
          <p:nvPr/>
        </p:nvSpPr>
        <p:spPr>
          <a:xfrm>
            <a:off x="5623560" y="4754880"/>
            <a:ext cx="5669280" cy="822960"/>
          </a:xfrm>
          <a:prstGeom prst="rect">
            <a:avLst/>
          </a:prstGeom>
          <a:noFill/>
        </p:spPr>
        <p:txBody>
          <a:bodyPr wrap="square" lIns="54864" rIns="54864" tIns="54864" bIns="54864" anchor="t">
            <a:spAutoFit/>
          </a:bodyPr>
          <a:lstStyle/>
          <a:p>
            <a:pPr algn="l">
              <a:defRPr sz="1300" b="1">
                <a:solidFill>
                  <a:srgbClr val="5F6C7D"/>
                </a:solidFill>
                <a:latin typeface="Aptos"/>
              </a:defRPr>
            </a:pPr>
            <a:r>
              <a:t>Institution: Puratchi Thalivar Dr. MGR Government Arts and Science College</a:t>
            </a:r>
          </a:p>
          <a:p>
            <a:pPr algn="l">
              <a:defRPr sz="1300" b="1">
                <a:solidFill>
                  <a:srgbClr val="5F6C7D"/>
                </a:solidFill>
                <a:latin typeface="Aptos"/>
              </a:defRPr>
            </a:pPr>
            <a:r>
              <a:t>College Code: TVU364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62B53"/>
        </a:solidFill>
        <a:effectLst/>
      </p:bgPr>
    </p:bg>
    <p:spTree>
      <p:nvGrpSpPr>
        <p:cNvPr id="1" name=""/>
        <p:cNvGrpSpPr/>
        <p:nvPr/>
      </p:nvGrpSpPr>
      <p:grpSpPr/>
      <p:sp>
        <p:nvSpPr>
          <p:cNvPr id="2" name="Oval 1"/>
          <p:cNvSpPr/>
          <p:nvPr/>
        </p:nvSpPr>
        <p:spPr>
          <a:xfrm>
            <a:off x="731520" y="731520"/>
            <a:ext cx="1280160" cy="1280160"/>
          </a:xfrm>
          <a:prstGeom prst="ellipse">
            <a:avLst/>
          </a:prstGeom>
          <a:solidFill>
            <a:srgbClr val="2A61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914400"/>
            <a:ext cx="1645920" cy="1645920"/>
          </a:xfrm>
          <a:prstGeom prst="ellipse">
            <a:avLst/>
          </a:prstGeom>
          <a:solidFill>
            <a:srgbClr val="30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869680" y="4846320"/>
            <a:ext cx="1828800" cy="1828800"/>
          </a:xfrm>
          <a:prstGeom prst="ellipse">
            <a:avLst/>
          </a:prstGeom>
          <a:solidFill>
            <a:srgbClr val="704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554480" y="5029200"/>
            <a:ext cx="914400" cy="914400"/>
          </a:xfrm>
          <a:prstGeom prst="ellipse">
            <a:avLst/>
          </a:prstGeom>
          <a:solidFill>
            <a:srgbClr val="F0B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1874519"/>
            <a:ext cx="8503920" cy="914400"/>
          </a:xfrm>
          <a:prstGeom prst="rect">
            <a:avLst/>
          </a:prstGeom>
          <a:noFill/>
        </p:spPr>
        <p:txBody>
          <a:bodyPr wrap="square" lIns="54864" rIns="54864" tIns="54864" bIns="54864" anchor="ctr">
            <a:spAutoFit/>
          </a:bodyPr>
          <a:lstStyle/>
          <a:p>
            <a:pPr algn="ctr">
              <a:defRPr sz="4200" b="1">
                <a:solidFill>
                  <a:srgbClr val="FFFFFF"/>
                </a:solidFill>
                <a:latin typeface="Aptos"/>
              </a:defRPr>
            </a:pPr>
            <a:r>
              <a:t>THANK YOU</a:t>
            </a:r>
          </a:p>
        </p:txBody>
      </p:sp>
      <p:sp>
        <p:nvSpPr>
          <p:cNvPr id="7" name="TextBox 6"/>
          <p:cNvSpPr txBox="1"/>
          <p:nvPr/>
        </p:nvSpPr>
        <p:spPr>
          <a:xfrm>
            <a:off x="1371600" y="2926080"/>
            <a:ext cx="9418320" cy="502920"/>
          </a:xfrm>
          <a:prstGeom prst="rect">
            <a:avLst/>
          </a:prstGeom>
          <a:noFill/>
        </p:spPr>
        <p:txBody>
          <a:bodyPr wrap="square" lIns="54864" rIns="54864" tIns="54864" bIns="54864" anchor="t">
            <a:spAutoFit/>
          </a:bodyPr>
          <a:lstStyle/>
          <a:p>
            <a:pPr algn="ctr">
              <a:defRPr sz="2100" b="1">
                <a:solidFill>
                  <a:srgbClr val="DCE6F5"/>
                </a:solidFill>
                <a:latin typeface="Aptos"/>
              </a:defRPr>
            </a:pPr>
            <a:r>
              <a:t>Student Enrollment and Course Management System</a:t>
            </a:r>
          </a:p>
        </p:txBody>
      </p:sp>
      <p:sp>
        <p:nvSpPr>
          <p:cNvPr id="8" name="TextBox 7"/>
          <p:cNvSpPr txBox="1"/>
          <p:nvPr/>
        </p:nvSpPr>
        <p:spPr>
          <a:xfrm>
            <a:off x="1371600" y="3703320"/>
            <a:ext cx="9418320" cy="365760"/>
          </a:xfrm>
          <a:prstGeom prst="rect">
            <a:avLst/>
          </a:prstGeom>
          <a:noFill/>
        </p:spPr>
        <p:txBody>
          <a:bodyPr wrap="square" lIns="54864" rIns="54864" tIns="54864" bIns="54864" anchor="t">
            <a:spAutoFit/>
          </a:bodyPr>
          <a:lstStyle/>
          <a:p>
            <a:pPr algn="ctr">
              <a:defRPr sz="1500" b="1">
                <a:solidFill>
                  <a:srgbClr val="F0B843"/>
                </a:solidFill>
                <a:latin typeface="Aptos"/>
              </a:defRPr>
            </a:pPr>
            <a:r>
              <a:t>Team Leader: S. PRIYADHARSHINI  |  College Code: TVU364</a:t>
            </a:r>
          </a:p>
        </p:txBody>
      </p:sp>
      <p:sp>
        <p:nvSpPr>
          <p:cNvPr id="9" name="TextBox 8"/>
          <p:cNvSpPr txBox="1"/>
          <p:nvPr/>
        </p:nvSpPr>
        <p:spPr>
          <a:xfrm>
            <a:off x="1828800" y="4617720"/>
            <a:ext cx="8503920" cy="411480"/>
          </a:xfrm>
          <a:prstGeom prst="rect">
            <a:avLst/>
          </a:prstGeom>
          <a:noFill/>
        </p:spPr>
        <p:txBody>
          <a:bodyPr wrap="square" lIns="54864" rIns="54864" tIns="54864" bIns="54864" anchor="t">
            <a:spAutoFit/>
          </a:bodyPr>
          <a:lstStyle/>
          <a:p>
            <a:pPr algn="ctr">
              <a:defRPr sz="1700" b="0">
                <a:solidFill>
                  <a:srgbClr val="DCE6F5"/>
                </a:solidFill>
                <a:latin typeface="Aptos"/>
              </a:defRPr>
            </a:pPr>
            <a: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